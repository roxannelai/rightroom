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1580bdd3084220" /><Relationship Type="http://schemas.openxmlformats.org/officeDocument/2006/relationships/extended-properties" Target="/docProps/app.xml" Id="Rc2c27b7de5d34400" /><Relationship Type="http://schemas.openxmlformats.org/officeDocument/2006/relationships/officeDocument" Target="/ppt/presentation.xml" Id="Ra54fa91505d24c75" /></Relationships>
</file>

<file path=ppt/presentation.xml><?xml version="1.0" encoding="utf-8"?>
<p:presentation xmlns:p="http://schemas.openxmlformats.org/presentationml/2006/main">
  <p:sldMasterIdLst>
    <p:sldMasterId xmlns:r="http://schemas.openxmlformats.org/officeDocument/2006/relationships" id="2147483648" r:id="R7898d69a73684845"/>
  </p:sldMasterIdLst>
  <p:notesMasterIdLst>
    <p:notesMasterId xmlns:r="http://schemas.openxmlformats.org/officeDocument/2006/relationships" r:id="R446ede6f51d54a74"/>
  </p:notesMasterIdLst>
  <p:sldIdLst>
    <p:sldId xmlns:r="http://schemas.openxmlformats.org/officeDocument/2006/relationships" id="256" r:id="R3094ae0c409149c5"/>
    <p:sldId xmlns:r="http://schemas.openxmlformats.org/officeDocument/2006/relationships" id="257" r:id="Rf7ec0e40a4374a12"/>
    <p:sldId xmlns:r="http://schemas.openxmlformats.org/officeDocument/2006/relationships" id="258" r:id="R2cad73e4537d4b01"/>
    <p:sldId xmlns:r="http://schemas.openxmlformats.org/officeDocument/2006/relationships" id="259" r:id="R2e8af8a87d8944bd"/>
    <p:sldId xmlns:r="http://schemas.openxmlformats.org/officeDocument/2006/relationships" id="260" r:id="R25d61c3b821044f6"/>
    <p:sldId xmlns:r="http://schemas.openxmlformats.org/officeDocument/2006/relationships" id="261" r:id="Rc91995d45bcb49e9"/>
    <p:sldId xmlns:r="http://schemas.openxmlformats.org/officeDocument/2006/relationships" id="262" r:id="R7f4b27fa227a49c3"/>
    <p:sldId xmlns:r="http://schemas.openxmlformats.org/officeDocument/2006/relationships" id="263" r:id="Rbe712a8d8c3a47ff"/>
    <p:sldId xmlns:r="http://schemas.openxmlformats.org/officeDocument/2006/relationships" id="264" r:id="Rabd5f08676f34eea"/>
    <p:sldId xmlns:r="http://schemas.openxmlformats.org/officeDocument/2006/relationships" id="265" r:id="Rbc1f6a468e734191"/>
    <p:sldId xmlns:r="http://schemas.openxmlformats.org/officeDocument/2006/relationships" id="266" r:id="Rbd56e482e09f4740"/>
    <p:sldId xmlns:r="http://schemas.openxmlformats.org/officeDocument/2006/relationships" id="267" r:id="Rf79a0fc45e17438a"/>
    <p:sldId xmlns:r="http://schemas.openxmlformats.org/officeDocument/2006/relationships" id="268" r:id="Rafb2de7a74174cca"/>
    <p:sldId xmlns:r="http://schemas.openxmlformats.org/officeDocument/2006/relationships" id="269" r:id="Rd4ae3bd19e7649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d2a5ec27c3453d" /><Relationship Type="http://schemas.openxmlformats.org/officeDocument/2006/relationships/slideMaster" Target="/ppt/slideMasters/slideMaster1.xml" Id="R7898d69a73684845" /><Relationship Type="http://schemas.openxmlformats.org/officeDocument/2006/relationships/notesMaster" Target="/ppt/notesMasters/notesMaster1.xml" Id="R446ede6f51d54a74" /><Relationship Type="http://schemas.openxmlformats.org/officeDocument/2006/relationships/presProps" Target="/ppt/presProps.xml" Id="R8ecb92975f81470c" /><Relationship Type="http://schemas.openxmlformats.org/officeDocument/2006/relationships/tableStyles" Target="/ppt/tableStyles.xml" Id="Ra7a17054306f4662" /><Relationship Type="http://schemas.openxmlformats.org/officeDocument/2006/relationships/slide" Target="/ppt/slides/slide1.xml" Id="R3094ae0c409149c5" /><Relationship Type="http://schemas.openxmlformats.org/officeDocument/2006/relationships/slide" Target="/ppt/slides/slide2.xml" Id="Rf7ec0e40a4374a12" /><Relationship Type="http://schemas.openxmlformats.org/officeDocument/2006/relationships/slide" Target="/ppt/slides/slide3.xml" Id="R2cad73e4537d4b01" /><Relationship Type="http://schemas.openxmlformats.org/officeDocument/2006/relationships/slide" Target="/ppt/slides/slide4.xml" Id="R2e8af8a87d8944bd" /><Relationship Type="http://schemas.openxmlformats.org/officeDocument/2006/relationships/slide" Target="/ppt/slides/slide5.xml" Id="R25d61c3b821044f6" /><Relationship Type="http://schemas.openxmlformats.org/officeDocument/2006/relationships/slide" Target="/ppt/slides/slide6.xml" Id="Rc91995d45bcb49e9" /><Relationship Type="http://schemas.openxmlformats.org/officeDocument/2006/relationships/slide" Target="/ppt/slides/slide7.xml" Id="R7f4b27fa227a49c3" /><Relationship Type="http://schemas.openxmlformats.org/officeDocument/2006/relationships/slide" Target="/ppt/slides/slide8.xml" Id="Rbe712a8d8c3a47ff" /><Relationship Type="http://schemas.openxmlformats.org/officeDocument/2006/relationships/slide" Target="/ppt/slides/slide9.xml" Id="Rabd5f08676f34eea" /><Relationship Type="http://schemas.openxmlformats.org/officeDocument/2006/relationships/slide" Target="/ppt/slides/slide10.xml" Id="Rbc1f6a468e734191" /><Relationship Type="http://schemas.openxmlformats.org/officeDocument/2006/relationships/slide" Target="/ppt/slides/slide11.xml" Id="Rbd56e482e09f4740" /><Relationship Type="http://schemas.openxmlformats.org/officeDocument/2006/relationships/slide" Target="/ppt/slides/slide12.xml" Id="Rf79a0fc45e17438a" /><Relationship Type="http://schemas.openxmlformats.org/officeDocument/2006/relationships/slide" Target="/ppt/slides/slide13.xml" Id="Rafb2de7a74174cca" /><Relationship Type="http://schemas.openxmlformats.org/officeDocument/2006/relationships/slide" Target="/ppt/slides/slide14.xml" Id="Rd4ae3bd19e7649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ec4ea5eaea44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9fe071b9014bc4" /><Relationship Type="http://schemas.openxmlformats.org/officeDocument/2006/relationships/notesMaster" Target="/ppt/notesMasters/notesMaster1.xml" Id="R3148688d354a45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d868a1dfa6449c" /><Relationship Type="http://schemas.openxmlformats.org/officeDocument/2006/relationships/notesMaster" Target="/ppt/notesMasters/notesMaster1.xml" Id="Ra56cb2d57db447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16edac26864dc0" /><Relationship Type="http://schemas.openxmlformats.org/officeDocument/2006/relationships/notesMaster" Target="/ppt/notesMasters/notesMaster1.xml" Id="R525c279c3f6144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62855492b440f8" /><Relationship Type="http://schemas.openxmlformats.org/officeDocument/2006/relationships/notesMaster" Target="/ppt/notesMasters/notesMaster1.xml" Id="Rf03c26bfd07c4e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c271cb7ed34595" /><Relationship Type="http://schemas.openxmlformats.org/officeDocument/2006/relationships/notesMaster" Target="/ppt/notesMasters/notesMaster1.xml" Id="R31a5032a63d341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29c6dbfe354dab" /><Relationship Type="http://schemas.openxmlformats.org/officeDocument/2006/relationships/notesMaster" Target="/ppt/notesMasters/notesMaster1.xml" Id="Rb04285abaa8243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aa845e81af4f91" /><Relationship Type="http://schemas.openxmlformats.org/officeDocument/2006/relationships/notesMaster" Target="/ppt/notesMasters/notesMaster1.xml" Id="R907bfc9e7a564e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3e56f7db8544b6" /><Relationship Type="http://schemas.openxmlformats.org/officeDocument/2006/relationships/notesMaster" Target="/ppt/notesMasters/notesMaster1.xml" Id="R2795066f782e47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390607a49145d1" /><Relationship Type="http://schemas.openxmlformats.org/officeDocument/2006/relationships/notesMaster" Target="/ppt/notesMasters/notesMaster1.xml" Id="R0e82cc812f4147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2581dbf4604011" /><Relationship Type="http://schemas.openxmlformats.org/officeDocument/2006/relationships/notesMaster" Target="/ppt/notesMasters/notesMaster1.xml" Id="R81825d1c8a58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df6e065f294a4a" /><Relationship Type="http://schemas.openxmlformats.org/officeDocument/2006/relationships/notesMaster" Target="/ppt/notesMasters/notesMaster1.xml" Id="R36b7a84c90a44d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a8141a4af646ed" /><Relationship Type="http://schemas.openxmlformats.org/officeDocument/2006/relationships/notesMaster" Target="/ppt/notesMasters/notesMaster1.xml" Id="R02da2a86a7f648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169a75594440fb" /><Relationship Type="http://schemas.openxmlformats.org/officeDocument/2006/relationships/notesMaster" Target="/ppt/notesMasters/notesMaster1.xml" Id="Ra28138b50cc64b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f0e792d2984d2e" /><Relationship Type="http://schemas.openxmlformats.org/officeDocument/2006/relationships/notesMaster" Target="/ppt/notesMasters/notesMaster1.xml" Id="Rc66f4f90577548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README.md, config/career.json. This deck reflects Roxanne's product direction and AI-assisted implementation, not a claim of solo hand-coded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README.md Product overview, config/career.json, docs/CAREER-EVENTS.md Product acceptance feedback. The problem is grounded in the product lead's experience, not market-size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README.md, docs/STORAGE.md, docs/CAREER-EVENTS.md. These are implemented decisions. A hosted service is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 image: docs/images/rightroom-career-sample.jpg, screenshot of fictional sample edition. It predates the attendance control addition. Sources: README.md, docs/ATTENDANCE-SHORTLIST.md. No live inventory or user-impact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README.md, docs/STORAGE.md, docs/SOURCE-EVIDENCE.md, docs/REVIEW-PUBLISH.md, docs/ATTENDANCE-SHORTLIST.md. Private path uses OpenRouter, local public-page capture, shared validation and interchangeable storage adapters. Diagram is expressed as an editable native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docs/INGESTION.md, docs/SOURCE-EVIDENCE.md, docs/REVIEW-PUBLISH.md, docs/RECOVERY.md. At most one research request, one tool-free extraction request if source captures succeed, and one conditional tool-free repair request. No automatic retries or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README.md, docs/ATTENDANCE-SHORTLIST.md October 9 checkpoint, docs/CAREER-EVENTS.md October 5 checkpoint. Test result is dated, not rerun for this deck. No current hosted demo or user cohort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docs/CAREER-EVENTS.md Product acceptance feedback October 5. User Interested response and private pm-event-review-2026-10-11-KfWOqU review pack updated October 13. Lenny interest is not an ingestion, publication or RSVP. Access requirement is uncertainty, not proof of exclusion. Three responses from one user do not calibrate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Recommendation, not approved scope. The user asked for a roadmap to the final product. We assume a focused hosted NYC PM/technical-PM pilot before broader cities and roles. Proposed PRD FR1-FR7.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Recommendations in RightRoom PRD. Sequence rather than committed calendar dates. Resolve policy before paid tests. Hosting and self-serve capabilities are not implemented. Broader geographies are later and outside the initial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Proposed hypotheses from PRD, not completed results or approved commitments. Five users and two weeks are a suggested research design. Small cohort proportions are learning signals, not population estimates. Factual and safety thresholds are proposed release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 docs/PM-COST-FEASIBILITY.md October 7 and docs/PM-DISCOVERY-PREPARATION.md. $3.2466 is a dated conservative full-context reservation, not expected invoice. $0.15 remains the approved hard ceiling. Historical ~$0.03 reported costs are unverified billing and not a hard guarantee. No new paid attempt is authorized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docs/SOURCE-EVIDENCE.md, docs/STORAGE.md, docs/PM-COST-FEASIBILITY.md, docs/ATTENDANCE-SHORTLIST.md. Mitigations reflect retained current safeguards or proposed launch requirements, not a claim of hosted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Current-state snapshot on October 13, 2026. Inspected branch codex/pm-discovery-plan, revision d1e0946. This is not a deployment claim. Proposed requirements and pilot targets need approval. Repository: https://github.com/RoxanneLai/rightroom</a:t>
            </a:r>
          </a:p>
          <a:p xmlns:a="http://schemas.openxmlformats.org/drawingml/2006/main">
            <a:r>
              <a:t/>
            </a:r>
          </a:p>
          <a:p xmlns:a="http://schemas.openxmlformats.org/drawingml/2006/main">
            <a:r>
              <a:t>Sources: RightRoom PRD recommendations, docs/PM-COST-FEASIBILITY.md and the October 13 user response. None of these decisions authorizes paid calls, real-data changes or deployment. Roxanne leads product definition, prioritization and acceptance through AI-assisted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b565c348c144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d768ef3e9a4b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6abc34111442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589a7c53074b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d738c5428240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037e8a143249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57E96F-B226-46B7-9E99-759D40D67E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641A14-EA02-4939-97CD-DC2884EF6E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50AA26-AEDB-4EEA-8C68-305D111C13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A2FB61-DCB3-4F6B-86B6-E1E37785DE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7C1080-7ACB-429B-AF3B-766F5D61C4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266D0E-A61B-4E3A-839E-B965FD0FA0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4F1BD2-42AC-4043-BA1F-3DCD482B6F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77A4AD-5A8D-4F46-AF1F-97E022BDE0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FF8914-2B05-47D4-8E51-C96F212CAE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2778F-6403-43C4-AADC-49519DF808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48507626e94728" /><Relationship Type="http://schemas.openxmlformats.org/officeDocument/2006/relationships/slideLayout" Target="/ppt/slideLayouts/slideLayout1.xml" Id="R091866fc29644b75" /><Relationship Type="http://schemas.openxmlformats.org/officeDocument/2006/relationships/slideLayout" Target="/ppt/slideLayouts/slideLayout2.xml" Id="R04cdde588fda451d" /><Relationship Type="http://schemas.openxmlformats.org/officeDocument/2006/relationships/slideLayout" Target="/ppt/slideLayouts/slideLayout3.xml" Id="Ra71b75b75f0c4a86" /><Relationship Type="http://schemas.openxmlformats.org/officeDocument/2006/relationships/slideLayout" Target="/ppt/slideLayouts/slideLayout4.xml" Id="R086550a733d24e13" /><Relationship Type="http://schemas.openxmlformats.org/officeDocument/2006/relationships/slideLayout" Target="/ppt/slideLayouts/slideLayout5.xml" Id="R6fa217eb2936426f" /><Relationship Type="http://schemas.openxmlformats.org/officeDocument/2006/relationships/slideLayout" Target="/ppt/slideLayouts/slideLayout6.xml" Id="R2232e2fd921b4f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866fc29644b75"/>
    <p:sldLayoutId xmlns:r="http://schemas.openxmlformats.org/officeDocument/2006/relationships" id="2147483650" r:id="R04cdde588fda451d"/>
    <p:sldLayoutId xmlns:r="http://schemas.openxmlformats.org/officeDocument/2006/relationships" id="2147483651" r:id="Ra71b75b75f0c4a86"/>
    <p:sldLayoutId xmlns:r="http://schemas.openxmlformats.org/officeDocument/2006/relationships" id="2147483652" r:id="R086550a733d24e13"/>
    <p:sldLayoutId xmlns:r="http://schemas.openxmlformats.org/officeDocument/2006/relationships" id="2147483653" r:id="R6fa217eb2936426f"/>
    <p:sldLayoutId xmlns:r="http://schemas.openxmlformats.org/officeDocument/2006/relationships" id="2147483654" r:id="R2232e2fd921b4f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737d1c57d04048" /><Relationship Type="http://schemas.openxmlformats.org/officeDocument/2006/relationships/notesSlide" Target="/ppt/notesSlides/notesSlide1.xml" Id="R49ff5d8fde2547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7ace69c1a541a2" /><Relationship Type="http://schemas.openxmlformats.org/officeDocument/2006/relationships/notesSlide" Target="/ppt/notesSlides/notesSlide2.xml" Id="R61e42e5a535442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05e3b99d6f45da" /><Relationship Type="http://schemas.openxmlformats.org/officeDocument/2006/relationships/notesSlide" Target="/ppt/notesSlides/notesSlide3.xml" Id="R086dc7499d7443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fff5e46f844a09" /><Relationship Type="http://schemas.openxmlformats.org/officeDocument/2006/relationships/image" Target="/ppt/media/image.jpeg" Id="Rd17b55d4e9004ce3" /><Relationship Type="http://schemas.openxmlformats.org/officeDocument/2006/relationships/notesSlide" Target="/ppt/notesSlides/notesSlide4.xml" Id="R6766d9b46b1d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c6ca5146264143" /><Relationship Type="http://schemas.openxmlformats.org/officeDocument/2006/relationships/notesSlide" Target="/ppt/notesSlides/notesSlide5.xml" Id="R08b14ce7af784c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ff225ab4ad4884" /><Relationship Type="http://schemas.openxmlformats.org/officeDocument/2006/relationships/notesSlide" Target="/ppt/notesSlides/notesSlide6.xml" Id="R06abb4e7786149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b51859aeca4291" /><Relationship Type="http://schemas.openxmlformats.org/officeDocument/2006/relationships/notesSlide" Target="/ppt/notesSlides/notesSlide7.xml" Id="Rb6ebd74df85f48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d1150500404247" /><Relationship Type="http://schemas.openxmlformats.org/officeDocument/2006/relationships/notesSlide" Target="/ppt/notesSlides/notesSlide8.xml" Id="Rf468b6c47cd645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8a0866af3748c4" /><Relationship Type="http://schemas.openxmlformats.org/officeDocument/2006/relationships/notesSlide" Target="/ppt/notesSlides/notesSlide9.xml" Id="Rcf3fff503c0844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6b6e91800e47fa" /><Relationship Type="http://schemas.openxmlformats.org/officeDocument/2006/relationships/notesSlide" Target="/ppt/notesSlides/notesSlide10.xml" Id="Re46bec14c70843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4230e9976a4afa" /><Relationship Type="http://schemas.openxmlformats.org/officeDocument/2006/relationships/notesSlide" Target="/ppt/notesSlides/notesSlide11.xml" Id="R1b00cbe3b3534c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15d37d3afa4616" /><Relationship Type="http://schemas.openxmlformats.org/officeDocument/2006/relationships/notesSlide" Target="/ppt/notesSlides/notesSlide12.xml" Id="R3470578f7bf644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a987d21c254861" /><Relationship Type="http://schemas.openxmlformats.org/officeDocument/2006/relationships/notesSlide" Target="/ppt/notesSlides/notesSlide13.xml" Id="Rc0b796022ae644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a23ce2fc414d20" /><Relationship Type="http://schemas.openxmlformats.org/officeDocument/2006/relationships/notesSlide" Target="/ppt/notesSlides/notesSlide14.xml" Id="R085679b216124d83" /></Relationships>
</file>

<file path=ppt/slides/slide1.xml><?xml version="1.0" encoding="utf-8"?>
<p:sld xmlns:p="http://schemas.openxmlformats.org/presentationml/2006/main">
  <p:cSld>
    <p:bg>
      <p:bgPr>
        <a:solidFill xmlns:a="http://schemas.openxmlformats.org/drawingml/2006/main">
          <a:srgbClr val="233C35"/>
        </a:solidFill>
      </p:bgPr>
    </p:bg>
    <p:spTree>
      <p:nvGrpSpPr>
        <p:cNvPr id="1" name=""/>
        <p:cNvGrpSpPr/>
        <p:nvPr/>
      </p:nvGrpSpPr>
      <p:grpSpPr>
        <a:xfrm xmlns:a="http://schemas.openxmlformats.org/drawingml/2006/main"/>
      </p:grpSpPr>
      <p:sp>
        <p:nvSpPr>
          <p:cNvPr id="7" name="PRODUCT STRATEGY AND ROADMAP">
            <a:extLst xmlns:a="http://schemas.openxmlformats.org/drawingml/2006/main">
              <a:ext uri="{FF2B5EF4-FFF2-40B4-BE49-F238E27FC236}">
                <a16:creationId xmlns:a16="http://schemas.microsoft.com/office/drawing/2014/main" id="{3C4088D7-281B-48B9-8E8C-0E6E4ED41E48}"/>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C6D6C3"/>
                </a:solidFill>
                <a:latin typeface="Helvetica Neue"/>
                <a:ea typeface="Helvetica Neue"/>
                <a:cs typeface="Helvetica Neue"/>
              </a:defRPr>
            </a:defPPr>
          </a:lstStyle>
          <a:p xmlns:a="http://schemas.openxmlformats.org/drawingml/2006/main">
            <a:pPr>
              <a:defRPr sz="1200" b="1">
                <a:solidFill>
                  <a:srgbClr val="C6D6C3"/>
                </a:solidFill>
                <a:latin typeface="Helvetica Neue"/>
                <a:ea typeface="Helvetica Neue"/>
                <a:cs typeface="Helvetica Neue"/>
              </a:defRPr>
            </a:pPr>
            <a:r>
              <a:rPr sz="1200" b="1">
                <a:solidFill>
                  <a:srgbClr val="C6D6C3"/>
                </a:solidFill>
                <a:latin typeface="Helvetica Neue"/>
                <a:ea typeface="Helvetica Neue"/>
                <a:cs typeface="Helvetica Neue"/>
              </a:rPr>
              <a:t>PRODUCT STRATEGY AND ROADMAP</a:t>
            </a:r>
          </a:p>
        </p:txBody>
      </p:sp>
      <p:sp>
        <p:nvSpPr>
          <p:cNvPr id="2" name="RightRoom   October 13 2026">
            <a:extLst xmlns:a="http://schemas.openxmlformats.org/drawingml/2006/main">
              <a:ext uri="{FF2B5EF4-FFF2-40B4-BE49-F238E27FC236}">
                <a16:creationId xmlns:a16="http://schemas.microsoft.com/office/drawing/2014/main" id="{E098DAF7-D4CF-4916-AA8C-C991C15FEC92}"/>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C6D6C3"/>
                </a:solidFill>
                <a:latin typeface="Helvetica Neue"/>
                <a:ea typeface="Helvetica Neue"/>
                <a:cs typeface="Helvetica Neue"/>
              </a:defRPr>
            </a:defPPr>
          </a:lstStyle>
          <a:p xmlns:a="http://schemas.openxmlformats.org/drawingml/2006/main">
            <a:pPr>
              <a:defRPr sz="1125">
                <a:solidFill>
                  <a:srgbClr val="C6D6C3"/>
                </a:solidFill>
                <a:latin typeface="Helvetica Neue"/>
                <a:ea typeface="Helvetica Neue"/>
                <a:cs typeface="Helvetica Neue"/>
              </a:defRPr>
            </a:pPr>
            <a:r>
              <a:rPr sz="1125">
                <a:solidFill>
                  <a:srgbClr val="C6D6C3"/>
                </a:solidFill>
                <a:latin typeface="Helvetica Neue"/>
                <a:ea typeface="Helvetica Neue"/>
                <a:cs typeface="Helvetica Neue"/>
              </a:rPr>
              <a:t>RightRoom   October 13 2026</a:t>
            </a:r>
          </a:p>
        </p:txBody>
      </p:sp>
      <p:sp>
        <p:nvSpPr>
          <p:cNvPr id="3" name="01">
            <a:extLst xmlns:a="http://schemas.openxmlformats.org/drawingml/2006/main">
              <a:ext uri="{FF2B5EF4-FFF2-40B4-BE49-F238E27FC236}">
                <a16:creationId xmlns:a16="http://schemas.microsoft.com/office/drawing/2014/main" id="{F0C60DB6-D203-46DD-838D-6B71CD773422}"/>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C6D6C3"/>
                </a:solidFill>
                <a:latin typeface="Helvetica Neue"/>
                <a:ea typeface="Helvetica Neue"/>
                <a:cs typeface="Helvetica Neue"/>
              </a:defRPr>
            </a:defPPr>
          </a:lstStyle>
          <a:p xmlns:a="http://schemas.openxmlformats.org/drawingml/2006/main">
            <a:pPr algn="r">
              <a:defRPr sz="1125">
                <a:solidFill>
                  <a:srgbClr val="C6D6C3"/>
                </a:solidFill>
                <a:latin typeface="Helvetica Neue"/>
                <a:ea typeface="Helvetica Neue"/>
                <a:cs typeface="Helvetica Neue"/>
              </a:defRPr>
            </a:pPr>
            <a:r>
              <a:rPr sz="1125">
                <a:solidFill>
                  <a:srgbClr val="C6D6C3"/>
                </a:solidFill>
                <a:latin typeface="Helvetica Neue"/>
                <a:ea typeface="Helvetica Neue"/>
                <a:cs typeface="Helvetica Neue"/>
              </a:rPr>
              <a:t>01</a:t>
            </a:r>
          </a:p>
        </p:txBody>
      </p:sp>
      <p:sp>
        <p:nvSpPr>
          <p:cNvPr id="4" name="RightRoom">
            <a:extLst xmlns:a="http://schemas.openxmlformats.org/drawingml/2006/main">
              <a:ext uri="{FF2B5EF4-FFF2-40B4-BE49-F238E27FC236}">
                <a16:creationId xmlns:a16="http://schemas.microsoft.com/office/drawing/2014/main" id="{1AB28A38-9562-4049-A2E8-1033DDCA2E6F}"/>
              </a:ext>
            </a:extLst>
          </p:cNvPr>
          <p:cNvSpPr>
            <a:spLocks xmlns:a="http://schemas.openxmlformats.org/drawingml/2006/main" noGrp="1"/>
          </p:cNvSpPr>
          <p:nvPr/>
        </p:nvSpPr>
        <p:spPr>
          <a:xfrm xmlns:a="http://schemas.openxmlformats.org/drawingml/2006/main">
            <a:off x="685800" y="17145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750" b="1">
                <a:solidFill>
                  <a:srgbClr val="FFFFFF"/>
                </a:solidFill>
                <a:latin typeface="Helvetica Neue"/>
                <a:ea typeface="Helvetica Neue"/>
                <a:cs typeface="Helvetica Neue"/>
              </a:defRPr>
            </a:defPPr>
          </a:lstStyle>
          <a:p xmlns:a="http://schemas.openxmlformats.org/drawingml/2006/main">
            <a:pPr>
              <a:defRPr sz="6750" b="1">
                <a:solidFill>
                  <a:srgbClr val="FFFFFF"/>
                </a:solidFill>
                <a:latin typeface="Helvetica Neue"/>
                <a:ea typeface="Helvetica Neue"/>
                <a:cs typeface="Helvetica Neue"/>
              </a:defRPr>
            </a:pPr>
            <a:r>
              <a:rPr sz="6750" b="1">
                <a:solidFill>
                  <a:srgbClr val="FFFFFF"/>
                </a:solidFill>
                <a:latin typeface="Helvetica Neue"/>
                <a:ea typeface="Helvetica Neue"/>
                <a:cs typeface="Helvetica Neue"/>
              </a:rPr>
              <a:t>RightRoom</a:t>
            </a:r>
          </a:p>
        </p:txBody>
      </p:sp>
      <p:sp>
        <p:nvSpPr>
          <p:cNvPr id="5" name="Career event discovery for&#10;NYC job seeke">
            <a:extLst xmlns:a="http://schemas.openxmlformats.org/drawingml/2006/main">
              <a:ext uri="{FF2B5EF4-FFF2-40B4-BE49-F238E27FC236}">
                <a16:creationId xmlns:a16="http://schemas.microsoft.com/office/drawing/2014/main" id="{AA33B8AD-5162-4C05-98A0-89EC4E1583F0}"/>
              </a:ext>
            </a:extLst>
          </p:cNvPr>
          <p:cNvSpPr>
            <a:spLocks xmlns:a="http://schemas.openxmlformats.org/drawingml/2006/main" noGrp="1"/>
          </p:cNvSpPr>
          <p:nvPr/>
        </p:nvSpPr>
        <p:spPr>
          <a:xfrm xmlns:a="http://schemas.openxmlformats.org/drawingml/2006/main">
            <a:off x="723900" y="3143250"/>
            <a:ext cx="1000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a:solidFill>
                  <a:srgbClr val="E6EEE2"/>
                </a:solidFill>
                <a:latin typeface="Helvetica Neue"/>
                <a:ea typeface="Helvetica Neue"/>
                <a:cs typeface="Helvetica Neue"/>
              </a:defRPr>
            </a:defPPr>
          </a:lstStyle>
          <a:p xmlns:a="http://schemas.openxmlformats.org/drawingml/2006/main">
            <a:pPr>
              <a:defRPr sz="3450">
                <a:solidFill>
                  <a:srgbClr val="E6EEE2"/>
                </a:solidFill>
                <a:latin typeface="Helvetica Neue"/>
                <a:ea typeface="Helvetica Neue"/>
                <a:cs typeface="Helvetica Neue"/>
              </a:defRPr>
            </a:pPr>
            <a:r>
              <a:rPr sz="3450">
                <a:solidFill>
                  <a:srgbClr val="E6EEE2"/>
                </a:solidFill>
                <a:latin typeface="Helvetica Neue"/>
                <a:ea typeface="Helvetica Neue"/>
                <a:cs typeface="Helvetica Neue"/>
              </a:rPr>
              <a:t>Career event discovery for</a:t>
            </a:r>
          </a:p>
          <a:p xmlns:a="http://schemas.openxmlformats.org/drawingml/2006/main">
            <a:pPr>
              <a:defRPr sz="3450">
                <a:solidFill>
                  <a:srgbClr val="E6EEE2"/>
                </a:solidFill>
                <a:latin typeface="Helvetica Neue"/>
                <a:ea typeface="Helvetica Neue"/>
                <a:cs typeface="Helvetica Neue"/>
              </a:defRPr>
            </a:pPr>
            <a:r>
              <a:rPr sz="3450">
                <a:solidFill>
                  <a:srgbClr val="E6EEE2"/>
                </a:solidFill>
                <a:latin typeface="Helvetica Neue"/>
                <a:ea typeface="Helvetica Neue"/>
                <a:cs typeface="Helvetica Neue"/>
              </a:rPr>
              <a:t>NYC job seekers</a:t>
            </a:r>
          </a:p>
        </p:txBody>
      </p:sp>
      <p:sp>
        <p:nvSpPr>
          <p:cNvPr id="6" name="Current design and proposed hosted pilot">
            <a:extLst xmlns:a="http://schemas.openxmlformats.org/drawingml/2006/main">
              <a:ext uri="{FF2B5EF4-FFF2-40B4-BE49-F238E27FC236}">
                <a16:creationId xmlns:a16="http://schemas.microsoft.com/office/drawing/2014/main" id="{6EDDE2D2-2403-446D-BDC3-E00BA5D3B69D}"/>
              </a:ext>
            </a:extLst>
          </p:cNvPr>
          <p:cNvSpPr>
            <a:spLocks xmlns:a="http://schemas.openxmlformats.org/drawingml/2006/main" noGrp="1"/>
          </p:cNvSpPr>
          <p:nvPr/>
        </p:nvSpPr>
        <p:spPr>
          <a:xfrm xmlns:a="http://schemas.openxmlformats.org/drawingml/2006/main">
            <a:off x="742950" y="50958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C6D6C3"/>
                </a:solidFill>
                <a:latin typeface="Helvetica Neue"/>
                <a:ea typeface="Helvetica Neue"/>
                <a:cs typeface="Helvetica Neue"/>
              </a:defRPr>
            </a:defPPr>
          </a:lstStyle>
          <a:p xmlns:a="http://schemas.openxmlformats.org/drawingml/2006/main">
            <a:pPr>
              <a:defRPr sz="1875">
                <a:solidFill>
                  <a:srgbClr val="C6D6C3"/>
                </a:solidFill>
                <a:latin typeface="Helvetica Neue"/>
                <a:ea typeface="Helvetica Neue"/>
                <a:cs typeface="Helvetica Neue"/>
              </a:defRPr>
            </a:pPr>
            <a:r>
              <a:rPr sz="1875">
                <a:solidFill>
                  <a:srgbClr val="C6D6C3"/>
                </a:solidFill>
                <a:latin typeface="Helvetica Neue"/>
                <a:ea typeface="Helvetica Neue"/>
                <a:cs typeface="Helvetica Neue"/>
              </a:rPr>
              <a:t>Current design and proposed hosted pilot</a:t>
            </a:r>
          </a:p>
          <a:p xmlns:a="http://schemas.openxmlformats.org/drawingml/2006/main">
            <a:pPr>
              <a:defRPr sz="1875">
                <a:solidFill>
                  <a:srgbClr val="C6D6C3"/>
                </a:solidFill>
                <a:latin typeface="Helvetica Neue"/>
                <a:ea typeface="Helvetica Neue"/>
                <a:cs typeface="Helvetica Neue"/>
              </a:defRPr>
            </a:pPr>
            <a:r>
              <a:rPr sz="1875">
                <a:solidFill>
                  <a:srgbClr val="C6D6C3"/>
                </a:solidFill>
                <a:latin typeface="Helvetica Neue"/>
                <a:ea typeface="Helvetica Neue"/>
                <a:cs typeface="Helvetica Neue"/>
              </a:rPr>
              <a:t>Roxanne Lai</a:t>
            </a:r>
          </a:p>
        </p:txBody>
      </p:sp>
    </p:spTree>
    <p:extLst>
      <p:ext uri="{BB962C8B-B14F-4D97-AF65-F5344CB8AC3E}">
        <p14:creationId xmlns:p14="http://schemas.microsoft.com/office/powerpoint/2010/main" val="1129765332"/>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The event decision">
            <a:extLst xmlns:a="http://schemas.openxmlformats.org/drawingml/2006/main">
              <a:ext uri="{FF2B5EF4-FFF2-40B4-BE49-F238E27FC236}">
                <a16:creationId xmlns:a16="http://schemas.microsoft.com/office/drawing/2014/main" id="{911C2876-7878-41CB-B832-44A25EECF52E}"/>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The event decision</a:t>
            </a:r>
          </a:p>
        </p:txBody>
      </p:sp>
      <p:sp>
        <p:nvSpPr>
          <p:cNvPr id="2" name="USER PROBLEM">
            <a:extLst xmlns:a="http://schemas.openxmlformats.org/drawingml/2006/main">
              <a:ext uri="{FF2B5EF4-FFF2-40B4-BE49-F238E27FC236}">
                <a16:creationId xmlns:a16="http://schemas.microsoft.com/office/drawing/2014/main" id="{6D26587F-1832-4D77-9FFE-BCE9E9D58F0F}"/>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USER PROBLEM</a:t>
            </a:r>
          </a:p>
        </p:txBody>
      </p:sp>
      <p:sp>
        <p:nvSpPr>
          <p:cNvPr id="3" name="RightRoom   October 13 2026">
            <a:extLst xmlns:a="http://schemas.openxmlformats.org/drawingml/2006/main">
              <a:ext uri="{FF2B5EF4-FFF2-40B4-BE49-F238E27FC236}">
                <a16:creationId xmlns:a16="http://schemas.microsoft.com/office/drawing/2014/main" id="{9936F96D-7D3B-408C-9784-89C05536F7C9}"/>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2">
            <a:extLst xmlns:a="http://schemas.openxmlformats.org/drawingml/2006/main">
              <a:ext uri="{FF2B5EF4-FFF2-40B4-BE49-F238E27FC236}">
                <a16:creationId xmlns:a16="http://schemas.microsoft.com/office/drawing/2014/main" id="{2210CFFE-6B0B-4880-8DF1-B2C6290237E4}"/>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02</a:t>
            </a:r>
          </a:p>
        </p:txBody>
      </p:sp>
      <p:sp>
        <p:nvSpPr>
          <p:cNvPr id="5" name="Which room is worth&#10;my limited time?">
            <a:extLst xmlns:a="http://schemas.openxmlformats.org/drawingml/2006/main">
              <a:ext uri="{FF2B5EF4-FFF2-40B4-BE49-F238E27FC236}">
                <a16:creationId xmlns:a16="http://schemas.microsoft.com/office/drawing/2014/main" id="{7D21BD36-675E-47B9-B961-3880A1605B6C}"/>
              </a:ext>
            </a:extLst>
          </p:cNvPr>
          <p:cNvSpPr>
            <a:spLocks xmlns:a="http://schemas.openxmlformats.org/drawingml/2006/main" noGrp="1"/>
          </p:cNvSpPr>
          <p:nvPr/>
        </p:nvSpPr>
        <p:spPr>
          <a:xfrm xmlns:a="http://schemas.openxmlformats.org/drawingml/2006/main">
            <a:off x="723900" y="19907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Which room is worth</a:t>
            </a:r>
          </a:p>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my limited time?</a:t>
            </a:r>
          </a:p>
        </p:txBody>
      </p:sp>
      <p:sp>
        <p:nvSpPr>
          <p:cNvPr id="6" name="Initial audience">
            <a:extLst xmlns:a="http://schemas.openxmlformats.org/drawingml/2006/main">
              <a:ext uri="{FF2B5EF4-FFF2-40B4-BE49-F238E27FC236}">
                <a16:creationId xmlns:a16="http://schemas.microsoft.com/office/drawing/2014/main" id="{D7E5D3A7-F0A5-41F7-8F17-3C3A1943CBA3}"/>
              </a:ext>
            </a:extLst>
          </p:cNvPr>
          <p:cNvSpPr>
            <a:spLocks xmlns:a="http://schemas.openxmlformats.org/drawingml/2006/main" noGrp="1"/>
          </p:cNvSpPr>
          <p:nvPr/>
        </p:nvSpPr>
        <p:spPr>
          <a:xfrm xmlns:a="http://schemas.openxmlformats.org/drawingml/2006/main">
            <a:off x="6572250" y="20002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33C35"/>
                </a:solidFill>
                <a:latin typeface="Helvetica Neue"/>
                <a:ea typeface="Helvetica Neue"/>
                <a:cs typeface="Helvetica Neue"/>
              </a:defRPr>
            </a:defPPr>
          </a:lstStyle>
          <a:p xmlns:a="http://schemas.openxmlformats.org/drawingml/2006/main">
            <a:pPr>
              <a:defRPr sz="2250" b="1">
                <a:solidFill>
                  <a:srgbClr val="233C35"/>
                </a:solidFill>
                <a:latin typeface="Helvetica Neue"/>
                <a:ea typeface="Helvetica Neue"/>
                <a:cs typeface="Helvetica Neue"/>
              </a:defRPr>
            </a:pPr>
            <a:r>
              <a:rPr sz="2250" b="1">
                <a:solidFill>
                  <a:srgbClr val="233C35"/>
                </a:solidFill>
                <a:latin typeface="Helvetica Neue"/>
                <a:ea typeface="Helvetica Neue"/>
                <a:cs typeface="Helvetica Neue"/>
              </a:rPr>
              <a:t>Initial audience</a:t>
            </a:r>
          </a:p>
        </p:txBody>
      </p:sp>
      <p:sp>
        <p:nvSpPr>
          <p:cNvPr id="7" name="NYC career entrants with a technical bac">
            <a:extLst xmlns:a="http://schemas.openxmlformats.org/drawingml/2006/main">
              <a:ext uri="{FF2B5EF4-FFF2-40B4-BE49-F238E27FC236}">
                <a16:creationId xmlns:a16="http://schemas.microsoft.com/office/drawing/2014/main" id="{664D7FB3-B257-4859-A9D1-61B8F37F2AAE}"/>
              </a:ext>
            </a:extLst>
          </p:cNvPr>
          <p:cNvSpPr>
            <a:spLocks xmlns:a="http://schemas.openxmlformats.org/drawingml/2006/main" noGrp="1"/>
          </p:cNvSpPr>
          <p:nvPr/>
        </p:nvSpPr>
        <p:spPr>
          <a:xfrm xmlns:a="http://schemas.openxmlformats.org/drawingml/2006/main">
            <a:off x="6572250" y="27146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233C35"/>
                </a:solidFill>
                <a:latin typeface="Helvetica Neue"/>
                <a:ea typeface="Helvetica Neue"/>
                <a:cs typeface="Helvetica Neue"/>
              </a:defRPr>
            </a:defPPr>
          </a:lstStyle>
          <a:p xmlns:a="http://schemas.openxmlformats.org/drawingml/2006/main">
            <a:pP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NYC career entrants with a technical background exploring PM and technical-PM roles.</a:t>
            </a:r>
          </a:p>
        </p:txBody>
      </p:sp>
      <p:sp>
        <p:nvSpPr>
          <p:cNvPr id="8" name="Listings rarely make career relevance, c">
            <a:extLst xmlns:a="http://schemas.openxmlformats.org/drawingml/2006/main">
              <a:ext uri="{FF2B5EF4-FFF2-40B4-BE49-F238E27FC236}">
                <a16:creationId xmlns:a16="http://schemas.microsoft.com/office/drawing/2014/main" id="{5D8D3DBA-FFDC-4B1A-A5CA-FD543C34BED1}"/>
              </a:ext>
            </a:extLst>
          </p:cNvPr>
          <p:cNvSpPr>
            <a:spLocks xmlns:a="http://schemas.openxmlformats.org/drawingml/2006/main" noGrp="1"/>
          </p:cNvSpPr>
          <p:nvPr/>
        </p:nvSpPr>
        <p:spPr>
          <a:xfrm xmlns:a="http://schemas.openxmlformats.org/drawingml/2006/main">
            <a:off x="723900" y="3857625"/>
            <a:ext cx="4905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627069"/>
                </a:solidFill>
                <a:latin typeface="Helvetica Neue"/>
                <a:ea typeface="Helvetica Neue"/>
                <a:cs typeface="Helvetica Neue"/>
              </a:defRPr>
            </a:defPPr>
          </a:lstStyle>
          <a:p xmlns:a="http://schemas.openxmlformats.org/drawingml/2006/main">
            <a:pPr>
              <a:defRPr sz="2250">
                <a:solidFill>
                  <a:srgbClr val="627069"/>
                </a:solidFill>
                <a:latin typeface="Helvetica Neue"/>
                <a:ea typeface="Helvetica Neue"/>
                <a:cs typeface="Helvetica Neue"/>
              </a:defRPr>
            </a:pPr>
            <a:r>
              <a:rPr sz="2250">
                <a:solidFill>
                  <a:srgbClr val="627069"/>
                </a:solidFill>
                <a:latin typeface="Helvetica Neue"/>
                <a:ea typeface="Helvetica Neue"/>
                <a:cs typeface="Helvetica Neue"/>
              </a:rPr>
              <a:t>Listings rarely make career relevance, conversation opportunities and attendance access equally clear.</a:t>
            </a:r>
          </a:p>
        </p:txBody>
      </p:sp>
      <p:sp>
        <p:nvSpPr>
          <p:cNvPr id="9" name="Technical project and program roles rema">
            <a:extLst xmlns:a="http://schemas.openxmlformats.org/drawingml/2006/main">
              <a:ext uri="{FF2B5EF4-FFF2-40B4-BE49-F238E27FC236}">
                <a16:creationId xmlns:a16="http://schemas.microsoft.com/office/drawing/2014/main" id="{1B2EB049-7377-48F0-B3B7-70ED740F486A}"/>
              </a:ext>
            </a:extLst>
          </p:cNvPr>
          <p:cNvSpPr>
            <a:spLocks xmlns:a="http://schemas.openxmlformats.org/drawingml/2006/main" noGrp="1"/>
          </p:cNvSpPr>
          <p:nvPr/>
        </p:nvSpPr>
        <p:spPr>
          <a:xfrm xmlns:a="http://schemas.openxmlformats.org/drawingml/2006/main">
            <a:off x="6572250" y="4429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627069"/>
                </a:solidFill>
                <a:latin typeface="Helvetica Neue"/>
                <a:ea typeface="Helvetica Neue"/>
                <a:cs typeface="Helvetica Neue"/>
              </a:defRPr>
            </a:defPPr>
          </a:lstStyle>
          <a:p xmlns:a="http://schemas.openxmlformats.org/drawingml/2006/main">
            <a:pPr>
              <a:defRPr sz="2100">
                <a:solidFill>
                  <a:srgbClr val="627069"/>
                </a:solidFill>
                <a:latin typeface="Helvetica Neue"/>
                <a:ea typeface="Helvetica Neue"/>
                <a:cs typeface="Helvetica Neue"/>
              </a:defRPr>
            </a:pPr>
            <a:r>
              <a:rPr sz="2100">
                <a:solidFill>
                  <a:srgbClr val="627069"/>
                </a:solidFill>
                <a:latin typeface="Helvetica Neue"/>
                <a:ea typeface="Helvetica Neue"/>
                <a:cs typeface="Helvetica Neue"/>
              </a:rPr>
              <a:t>Technical project and program roles remain secondary opportunities.</a:t>
            </a:r>
          </a:p>
        </p:txBody>
      </p:sp>
    </p:spTree>
    <p:extLst>
      <p:ext uri="{BB962C8B-B14F-4D97-AF65-F5344CB8AC3E}">
        <p14:creationId xmlns:p14="http://schemas.microsoft.com/office/powerpoint/2010/main" val="389455266"/>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Product decisions">
            <a:extLst xmlns:a="http://schemas.openxmlformats.org/drawingml/2006/main">
              <a:ext uri="{FF2B5EF4-FFF2-40B4-BE49-F238E27FC236}">
                <a16:creationId xmlns:a16="http://schemas.microsoft.com/office/drawing/2014/main" id="{529C10E3-A2FC-4EB0-8857-EBFA5672C85D}"/>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Product decisions</a:t>
            </a:r>
          </a:p>
        </p:txBody>
      </p:sp>
      <p:sp>
        <p:nvSpPr>
          <p:cNvPr id="2" name="SCOPE AND TRADEOFFS">
            <a:extLst xmlns:a="http://schemas.openxmlformats.org/drawingml/2006/main">
              <a:ext uri="{FF2B5EF4-FFF2-40B4-BE49-F238E27FC236}">
                <a16:creationId xmlns:a16="http://schemas.microsoft.com/office/drawing/2014/main" id="{1510A7C3-2036-4371-B6AB-6AB0EDF1411C}"/>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SCOPE AND TRADEOFFS</a:t>
            </a:r>
          </a:p>
        </p:txBody>
      </p:sp>
      <p:sp>
        <p:nvSpPr>
          <p:cNvPr id="3" name="RightRoom   October 13 2026">
            <a:extLst xmlns:a="http://schemas.openxmlformats.org/drawingml/2006/main">
              <a:ext uri="{FF2B5EF4-FFF2-40B4-BE49-F238E27FC236}">
                <a16:creationId xmlns:a16="http://schemas.microsoft.com/office/drawing/2014/main" id="{B4F67DCA-9AB9-4EFC-BBFE-8D6BB366FA56}"/>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3">
            <a:extLst xmlns:a="http://schemas.openxmlformats.org/drawingml/2006/main">
              <a:ext uri="{FF2B5EF4-FFF2-40B4-BE49-F238E27FC236}">
                <a16:creationId xmlns:a16="http://schemas.microsoft.com/office/drawing/2014/main" id="{3BD40E1F-3C42-4E16-972B-7FD6FA9B5B7A}"/>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03</a:t>
            </a:r>
          </a:p>
        </p:txBody>
      </p:sp>
      <p:graphicFrame>
        <p:nvGraphicFramePr>
          <p:cNvPr id="5" name="">
            <a:extLst xmlns:a="http://schemas.openxmlformats.org/drawingml/2006/main">
              <a:ext uri="{FF2B5EF4-FFF2-40B4-BE49-F238E27FC236}">
                <a16:creationId xmlns:a16="http://schemas.microsoft.com/office/drawing/2014/main" id="{9E17C4E0-B6FB-4A18-A4F1-10B674D1A1B3}"/>
              </a:ext>
            </a:extLst>
          </p:cNvPr>
          <p:cNvGraphicFramePr/>
          <p:nvPr/>
        </p:nvGraphicFramePr>
        <p:xfrm>
          <a:off xmlns:a="http://schemas.openxmlformats.org/drawingml/2006/main" x="704850" y="2000250"/>
          <a:ext xmlns:a="http://schemas.openxmlformats.org/drawingml/2006/main" cx="10782300" cy="3810000"/>
        </p:xfrm>
        <a:graphic xmlns:a="http://schemas.openxmlformats.org/drawingml/2006/main">
          <a:graphicData uri="http://schemas.openxmlformats.org/drawingml/2006/table">
            <a:tbl>
              <a:tblPr firstRow="1" bandRow="0"/>
              <a:tblGrid>
                <a:gridCol w="3143250"/>
                <a:gridCol w="4219575"/>
                <a:gridCol w="3419475"/>
              </a:tblGrid>
              <a:tr h="762000">
                <a:tc>
                  <a:txBody>
                    <a:bodyPr/>
                    <a:lstStyle/>
                    <a:p>
                      <a:r>
                        <a:rPr sz="1875" b="1">
                          <a:solidFill>
                            <a:srgbClr val="FFFFFF"/>
                          </a:solidFill>
                          <a:latin typeface="Helvetica Neue"/>
                          <a:ea typeface="Helvetica Neue"/>
                          <a:cs typeface="Helvetica Neue"/>
                        </a:rPr>
                        <a:t>Decision</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Reason</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Tradeoff</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762000">
                <a:tc>
                  <a:txBody>
                    <a:bodyPr/>
                    <a:lstStyle/>
                    <a:p>
                      <a:r>
                        <a:rPr sz="1875" b="0">
                          <a:solidFill>
                            <a:srgbClr val="233C35"/>
                          </a:solidFill>
                          <a:latin typeface="Helvetica Neue"/>
                          <a:ea typeface="Helvetica Neue"/>
                          <a:cs typeface="Helvetica Neue"/>
                        </a:rPr>
                        <a:t>Start with NYC career events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A focused decision for a specific user</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Limited geography and profiles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62000">
                <a:tc>
                  <a:txBody>
                    <a:bodyPr/>
                    <a:lstStyle/>
                    <a:p>
                      <a:r>
                        <a:rPr sz="1875" b="0">
                          <a:solidFill>
                            <a:srgbClr val="233C35"/>
                          </a:solidFill>
                          <a:latin typeface="Helvetica Neue"/>
                          <a:ea typeface="Helvetica Neue"/>
                          <a:cs typeface="Helvetica Neue"/>
                        </a:rPr>
                        <a:t>Explain the evidence</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Users need to judge fit and uncertainty</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More information to read</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762000">
                <a:tc>
                  <a:txBody>
                    <a:bodyPr/>
                    <a:lstStyle/>
                    <a:p>
                      <a:r>
                        <a:rPr sz="1875" b="0">
                          <a:solidFill>
                            <a:srgbClr val="233C35"/>
                          </a:solidFill>
                          <a:latin typeface="Helvetica Neue"/>
                          <a:ea typeface="Helvetica Neue"/>
                          <a:cs typeface="Helvetica Neue"/>
                        </a:rPr>
                        <a:t>Human publication review</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Models can return plausible errors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Operator effort limits throughput</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62000">
                <a:tc>
                  <a:txBody>
                    <a:bodyPr/>
                    <a:lstStyle/>
                    <a:p>
                      <a:r>
                        <a:rPr sz="1875" b="0">
                          <a:solidFill>
                            <a:srgbClr val="233C35"/>
                          </a:solidFill>
                          <a:latin typeface="Helvetica Neue"/>
                          <a:ea typeface="Helvetica Neue"/>
                          <a:cs typeface="Helvetica Neue"/>
                        </a:rPr>
                        <a:t>Local-first SQLite</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No database server for local use</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Hosting needs persistent storage</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bl>
          </a:graphicData>
        </a:graphic>
      </p:graphicFrame>
    </p:spTree>
    <p:extLst>
      <p:ext uri="{BB962C8B-B14F-4D97-AF65-F5344CB8AC3E}">
        <p14:creationId xmlns:p14="http://schemas.microsoft.com/office/powerpoint/2010/main" val="188914110"/>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The current experience">
            <a:extLst xmlns:a="http://schemas.openxmlformats.org/drawingml/2006/main">
              <a:ext uri="{FF2B5EF4-FFF2-40B4-BE49-F238E27FC236}">
                <a16:creationId xmlns:a16="http://schemas.microsoft.com/office/drawing/2014/main" id="{5E757712-620E-4D8B-961D-08B51D21FF25}"/>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The current experience</a:t>
            </a:r>
          </a:p>
        </p:txBody>
      </p:sp>
      <p:sp>
        <p:nvSpPr>
          <p:cNvPr id="2" name="IMPLEMENTED LOCAL PRODUCT">
            <a:extLst xmlns:a="http://schemas.openxmlformats.org/drawingml/2006/main">
              <a:ext uri="{FF2B5EF4-FFF2-40B4-BE49-F238E27FC236}">
                <a16:creationId xmlns:a16="http://schemas.microsoft.com/office/drawing/2014/main" id="{F5086C3B-B776-46C4-A6E6-519FDF8C6569}"/>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IMPLEMENTED LOCAL PRODUCT</a:t>
            </a:r>
          </a:p>
        </p:txBody>
      </p:sp>
      <p:sp>
        <p:nvSpPr>
          <p:cNvPr id="3" name="RightRoom   October 13 2026">
            <a:extLst xmlns:a="http://schemas.openxmlformats.org/drawingml/2006/main">
              <a:ext uri="{FF2B5EF4-FFF2-40B4-BE49-F238E27FC236}">
                <a16:creationId xmlns:a16="http://schemas.microsoft.com/office/drawing/2014/main" id="{B7208606-2E29-464D-8E57-7366625DA498}"/>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4">
            <a:extLst xmlns:a="http://schemas.openxmlformats.org/drawingml/2006/main">
              <a:ext uri="{FF2B5EF4-FFF2-40B4-BE49-F238E27FC236}">
                <a16:creationId xmlns:a16="http://schemas.microsoft.com/office/drawing/2014/main" id="{CF20DF8B-20D3-463B-99A6-E2A993B1C701}"/>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04</a:t>
            </a:r>
          </a:p>
        </p:txBody>
      </p:sp>
      <p:pic>
        <p:nvPicPr>
          <p:cNvPr id="5" name="">
            <a:extLst xmlns:a="http://schemas.openxmlformats.org/drawingml/2006/main">
              <a:ext uri="{FF2B5EF4-FFF2-40B4-BE49-F238E27FC236}">
                <a16:creationId xmlns:a16="http://schemas.microsoft.com/office/drawing/2014/main" id="{26269031-FDF8-491C-8A38-64A30AAA6EE5}"/>
              </a:ext>
            </a:extLst>
          </p:cNvPr>
          <p:cNvPicPr>
            <a:picLocks xmlns:a="http://schemas.openxmlformats.org/drawingml/2006/main" noChangeAspect="1"/>
          </p:cNvPicPr>
          <p:nvPr/>
        </p:nvPicPr>
        <p:blipFill>
          <a:blip xmlns:r="http://schemas.openxmlformats.org/officeDocument/2006/relationships" xmlns:a="http://schemas.openxmlformats.org/drawingml/2006/main" r:embed="Rd17b55d4e9004ce3"/>
          <a:stretch xmlns:a="http://schemas.openxmlformats.org/drawingml/2006/main"/>
        </p:blipFill>
        <p:spPr>
          <a:xfrm xmlns:a="http://schemas.openxmlformats.org/drawingml/2006/main">
            <a:off x="1122336" y="1666875"/>
            <a:ext cx="4413302" cy="4171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711AFF7-BD35-4BC1-85BC-18D10F80BB3A}"/>
              </a:ext>
            </a:extLst>
          </p:cNvPr>
          <p:cNvSpPr>
            <a:spLocks xmlns:a="http://schemas.openxmlformats.org/drawingml/2006/main" noGrp="1"/>
          </p:cNvSpPr>
          <p:nvPr/>
        </p:nvSpPr>
        <p:spPr>
          <a:xfrm xmlns:a="http://schemas.openxmlformats.org/drawingml/2006/main">
            <a:off x="6524625" y="2028825"/>
            <a:ext cx="490537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233C35"/>
                </a:solidFill>
                <a:latin typeface="Helvetica Neue"/>
                <a:ea typeface="Helvetica Neue"/>
                <a:cs typeface="Helvetica Neue"/>
              </a:defRPr>
            </a:defPPr>
          </a:lstStyle>
          <a:p xmlns:a="http://schemas.openxmlformats.org/drawingml/2006/main">
            <a:pPr marL="228600" indent="-127000">
              <a:spcAft>
                <a:spcPts val="2000"/>
              </a:spcAft>
              <a:buChar char="•"/>
              <a:defRPr sz="2100">
                <a:solidFill>
                  <a:srgbClr val="233C35"/>
                </a:solidFill>
                <a:latin typeface="Helvetica Neue"/>
                <a:ea typeface="Helvetica Neue"/>
                <a:cs typeface="Helvetica Neue"/>
              </a:defRPr>
            </a:pPr>
            <a:r>
              <a:rPr sz="2100">
                <a:solidFill>
                  <a:srgbClr val="233C35"/>
                </a:solidFill>
                <a:latin typeface="Helvetica Neue"/>
                <a:ea typeface="Helvetica Neue"/>
                <a:cs typeface="Helvetica Neue"/>
              </a:rPr>
              <a:t>Ranked, source-linked career cards</a:t>
            </a:r>
          </a:p>
          <a:p xmlns:a="http://schemas.openxmlformats.org/drawingml/2006/main">
            <a:pPr marL="228600" indent="-127000">
              <a:spcAft>
                <a:spcPts val="2000"/>
              </a:spcAft>
              <a:buChar char="•"/>
              <a:defRPr sz="2100">
                <a:solidFill>
                  <a:srgbClr val="233C35"/>
                </a:solidFill>
                <a:latin typeface="Helvetica Neue"/>
                <a:ea typeface="Helvetica Neue"/>
                <a:cs typeface="Helvetica Neue"/>
              </a:defRPr>
            </a:pPr>
            <a:r>
              <a:rPr sz="2100">
                <a:solidFill>
                  <a:srgbClr val="233C35"/>
                </a:solidFill>
                <a:latin typeface="Helvetica Neue"/>
                <a:ea typeface="Helvetica Neue"/>
                <a:cs typeface="Helvetica Neue"/>
              </a:rPr>
              <a:t>Visible access and uncertainty cautions</a:t>
            </a:r>
          </a:p>
          <a:p xmlns:a="http://schemas.openxmlformats.org/drawingml/2006/main">
            <a:pPr marL="228600" indent="-127000">
              <a:spcAft>
                <a:spcPts val="2000"/>
              </a:spcAft>
              <a:buChar char="•"/>
              <a:defRPr sz="2100">
                <a:solidFill>
                  <a:srgbClr val="233C35"/>
                </a:solidFill>
                <a:latin typeface="Helvetica Neue"/>
                <a:ea typeface="Helvetica Neue"/>
                <a:cs typeface="Helvetica Neue"/>
              </a:defRPr>
            </a:pPr>
            <a:r>
              <a:rPr sz="2100">
                <a:solidFill>
                  <a:srgbClr val="233C35"/>
                </a:solidFill>
                <a:latin typeface="Helvetica Neue"/>
                <a:ea typeface="Helvetica Neue"/>
                <a:cs typeface="Helvetica Neue"/>
              </a:rPr>
              <a:t>Interested, Maybe and Not for me</a:t>
            </a:r>
          </a:p>
          <a:p xmlns:a="http://schemas.openxmlformats.org/drawingml/2006/main">
            <a:pPr marL="228600" indent="-127000">
              <a:spcAft>
                <a:spcPts val="2000"/>
              </a:spcAft>
              <a:buChar char="•"/>
              <a:defRPr sz="2100">
                <a:solidFill>
                  <a:srgbClr val="233C35"/>
                </a:solidFill>
                <a:latin typeface="Helvetica Neue"/>
                <a:ea typeface="Helvetica Neue"/>
                <a:cs typeface="Helvetica Neue"/>
              </a:defRPr>
            </a:pPr>
            <a:r>
              <a:rPr sz="2100">
                <a:solidFill>
                  <a:srgbClr val="233C35"/>
                </a:solidFill>
                <a:latin typeface="Helvetica Neue"/>
                <a:ea typeface="Helvetica Neue"/>
                <a:cs typeface="Helvetica Neue"/>
              </a:rPr>
              <a:t>Original registration link</a:t>
            </a:r>
          </a:p>
        </p:txBody>
      </p:sp>
      <p:sp>
        <p:nvSpPr>
          <p:cNvPr id="7" name="Fictional sample screenshot. Attendance ">
            <a:extLst xmlns:a="http://schemas.openxmlformats.org/drawingml/2006/main">
              <a:ext uri="{FF2B5EF4-FFF2-40B4-BE49-F238E27FC236}">
                <a16:creationId xmlns:a16="http://schemas.microsoft.com/office/drawing/2014/main" id="{D054345F-888A-4E35-A44B-B2D6BBB2B2BD}"/>
              </a:ext>
            </a:extLst>
          </p:cNvPr>
          <p:cNvSpPr>
            <a:spLocks xmlns:a="http://schemas.openxmlformats.org/drawingml/2006/main" noGrp="1"/>
          </p:cNvSpPr>
          <p:nvPr/>
        </p:nvSpPr>
        <p:spPr>
          <a:xfrm xmlns:a="http://schemas.openxmlformats.org/drawingml/2006/main">
            <a:off x="714375"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627069"/>
                </a:solidFill>
                <a:latin typeface="Helvetica Neue"/>
                <a:ea typeface="Helvetica Neue"/>
                <a:cs typeface="Helvetica Neue"/>
              </a:defRPr>
            </a:defPPr>
          </a:lstStyle>
          <a:p xmlns:a="http://schemas.openxmlformats.org/drawingml/2006/main">
            <a:pPr>
              <a:defRPr sz="1500">
                <a:solidFill>
                  <a:srgbClr val="627069"/>
                </a:solidFill>
                <a:latin typeface="Helvetica Neue"/>
                <a:ea typeface="Helvetica Neue"/>
                <a:cs typeface="Helvetica Neue"/>
              </a:defRPr>
            </a:pPr>
            <a:r>
              <a:rPr sz="1500">
                <a:solidFill>
                  <a:srgbClr val="627069"/>
                </a:solidFill>
                <a:latin typeface="Helvetica Neue"/>
                <a:ea typeface="Helvetica Neue"/>
                <a:cs typeface="Helvetica Neue"/>
              </a:rPr>
              <a:t>Fictional sample screenshot. Attendance controls were added later.</a:t>
            </a:r>
          </a:p>
        </p:txBody>
      </p:sp>
    </p:spTree>
    <p:extLst>
      <p:ext uri="{BB962C8B-B14F-4D97-AF65-F5344CB8AC3E}">
        <p14:creationId xmlns:p14="http://schemas.microsoft.com/office/powerpoint/2010/main" val="1996234964"/>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Current system architecture">
            <a:extLst xmlns:a="http://schemas.openxmlformats.org/drawingml/2006/main">
              <a:ext uri="{FF2B5EF4-FFF2-40B4-BE49-F238E27FC236}">
                <a16:creationId xmlns:a16="http://schemas.microsoft.com/office/drawing/2014/main" id="{EE7EE79F-2CD7-47D5-A240-AB417B9D3F08}"/>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Current system architecture</a:t>
            </a:r>
          </a:p>
        </p:txBody>
      </p:sp>
      <p:sp>
        <p:nvSpPr>
          <p:cNvPr id="2" name="HIGH LEVEL DESIGN">
            <a:extLst xmlns:a="http://schemas.openxmlformats.org/drawingml/2006/main">
              <a:ext uri="{FF2B5EF4-FFF2-40B4-BE49-F238E27FC236}">
                <a16:creationId xmlns:a16="http://schemas.microsoft.com/office/drawing/2014/main" id="{5A010B4C-6E41-4204-B3C6-BE0203F995B7}"/>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HIGH LEVEL DESIGN</a:t>
            </a:r>
          </a:p>
        </p:txBody>
      </p:sp>
      <p:sp>
        <p:nvSpPr>
          <p:cNvPr id="3" name="RightRoom   October 13 2026">
            <a:extLst xmlns:a="http://schemas.openxmlformats.org/drawingml/2006/main">
              <a:ext uri="{FF2B5EF4-FFF2-40B4-BE49-F238E27FC236}">
                <a16:creationId xmlns:a16="http://schemas.microsoft.com/office/drawing/2014/main" id="{E35EB989-ECF1-44BB-AEE0-C3ECACBAD5E4}"/>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5">
            <a:extLst xmlns:a="http://schemas.openxmlformats.org/drawingml/2006/main">
              <a:ext uri="{FF2B5EF4-FFF2-40B4-BE49-F238E27FC236}">
                <a16:creationId xmlns:a16="http://schemas.microsoft.com/office/drawing/2014/main" id="{13A85F6C-D8BD-4F93-A027-A6CB27A1D776}"/>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05</a:t>
            </a:r>
          </a:p>
        </p:txBody>
      </p:sp>
      <p:graphicFrame>
        <p:nvGraphicFramePr>
          <p:cNvPr id="5" name="">
            <a:extLst xmlns:a="http://schemas.openxmlformats.org/drawingml/2006/main">
              <a:ext uri="{FF2B5EF4-FFF2-40B4-BE49-F238E27FC236}">
                <a16:creationId xmlns:a16="http://schemas.microsoft.com/office/drawing/2014/main" id="{38F2C261-568E-4979-B322-28B7469CD584}"/>
              </a:ext>
            </a:extLst>
          </p:cNvPr>
          <p:cNvGraphicFramePr/>
          <p:nvPr/>
        </p:nvGraphicFramePr>
        <p:xfrm>
          <a:off xmlns:a="http://schemas.openxmlformats.org/drawingml/2006/main" x="704850" y="2000250"/>
          <a:ext xmlns:a="http://schemas.openxmlformats.org/drawingml/2006/main" cx="10782300" cy="3790950"/>
        </p:xfrm>
        <a:graphic xmlns:a="http://schemas.openxmlformats.org/drawingml/2006/main">
          <a:graphicData uri="http://schemas.openxmlformats.org/drawingml/2006/table">
            <a:tbl>
              <a:tblPr firstRow="1" bandRow="0"/>
              <a:tblGrid>
                <a:gridCol w="3143250"/>
                <a:gridCol w="4591050"/>
                <a:gridCol w="3048000"/>
              </a:tblGrid>
              <a:tr h="758190">
                <a:tc>
                  <a:txBody>
                    <a:bodyPr/>
                    <a:lstStyle/>
                    <a:p>
                      <a:r>
                        <a:rPr sz="1875" b="1">
                          <a:solidFill>
                            <a:srgbClr val="FFFFFF"/>
                          </a:solidFill>
                          <a:latin typeface="Helvetica Neue"/>
                          <a:ea typeface="Helvetica Neue"/>
                          <a:cs typeface="Helvetica Neue"/>
                        </a:rPr>
                        <a:t>Layer</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Responsibility</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Data boundary</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758190">
                <a:tc>
                  <a:txBody>
                    <a:bodyPr/>
                    <a:lstStyle/>
                    <a:p>
                      <a:r>
                        <a:rPr sz="1875" b="0">
                          <a:solidFill>
                            <a:srgbClr val="233C35"/>
                          </a:solidFill>
                          <a:latin typeface="Helvetica Neue"/>
                          <a:ea typeface="Helvetica Neue"/>
                          <a:cs typeface="Helvetica Neue"/>
                        </a:rPr>
                        <a:t>Collection and review</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OpenRouter research, extraction and review</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Private leads and drafts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58190">
                <a:tc>
                  <a:txBody>
                    <a:bodyPr/>
                    <a:lstStyle/>
                    <a:p>
                      <a:r>
                        <a:rPr sz="1875" b="0">
                          <a:solidFill>
                            <a:srgbClr val="233C35"/>
                          </a:solidFill>
                          <a:latin typeface="Helvetica Neue"/>
                          <a:ea typeface="Helvetica Neue"/>
                          <a:cs typeface="Helvetica Neue"/>
                        </a:rPr>
                        <a:t>Shared validation and storage</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Evidence, scoring, transactions and history</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SQLite or selected Postgres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758190">
                <a:tc>
                  <a:txBody>
                    <a:bodyPr/>
                    <a:lstStyle/>
                    <a:p>
                      <a:r>
                        <a:rPr sz="1875" b="0">
                          <a:solidFill>
                            <a:srgbClr val="233C35"/>
                          </a:solidFill>
                          <a:latin typeface="Helvetica Neue"/>
                          <a:ea typeface="Helvetica Neue"/>
                          <a:cs typeface="Helvetica Neue"/>
                        </a:rPr>
                        <a:t>Next.js public feed</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Read approved, upcoming NYC events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Validated public fields only</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58190">
                <a:tc>
                  <a:txBody>
                    <a:bodyPr/>
                    <a:lstStyle/>
                    <a:p>
                      <a:r>
                        <a:rPr sz="1875" b="0">
                          <a:solidFill>
                            <a:srgbClr val="233C35"/>
                          </a:solidFill>
                          <a:latin typeface="Helvetica Neue"/>
                          <a:ea typeface="Helvetica Neue"/>
                          <a:cs typeface="Helvetica Neue"/>
                        </a:rPr>
                        <a:t>Browser shortlist</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Save choices for loaded public IDs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Local device only</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bl>
          </a:graphicData>
        </a:graphic>
      </p:graphicFrame>
      <p:sp>
        <p:nvSpPr>
          <p:cNvPr id="6" name="Backend selection does not transfer data">
            <a:extLst xmlns:a="http://schemas.openxmlformats.org/drawingml/2006/main">
              <a:ext uri="{FF2B5EF4-FFF2-40B4-BE49-F238E27FC236}">
                <a16:creationId xmlns:a16="http://schemas.microsoft.com/office/drawing/2014/main" id="{FC19340F-A60B-42A6-99BC-5C1E27E2BD5D}"/>
              </a:ext>
            </a:extLst>
          </p:cNvPr>
          <p:cNvSpPr>
            <a:spLocks xmlns:a="http://schemas.openxmlformats.org/drawingml/2006/main" noGrp="1"/>
          </p:cNvSpPr>
          <p:nvPr/>
        </p:nvSpPr>
        <p:spPr>
          <a:xfrm xmlns:a="http://schemas.openxmlformats.org/drawingml/2006/main">
            <a:off x="742950" y="5924550"/>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627069"/>
                </a:solidFill>
                <a:latin typeface="Helvetica Neue"/>
                <a:ea typeface="Helvetica Neue"/>
                <a:cs typeface="Helvetica Neue"/>
              </a:defRPr>
            </a:defPPr>
          </a:lstStyle>
          <a:p xmlns:a="http://schemas.openxmlformats.org/drawingml/2006/main">
            <a:pPr>
              <a:defRPr sz="1725">
                <a:solidFill>
                  <a:srgbClr val="627069"/>
                </a:solidFill>
                <a:latin typeface="Helvetica Neue"/>
                <a:ea typeface="Helvetica Neue"/>
                <a:cs typeface="Helvetica Neue"/>
              </a:defRPr>
            </a:pPr>
            <a:r>
              <a:rPr sz="1725">
                <a:solidFill>
                  <a:srgbClr val="627069"/>
                </a:solidFill>
                <a:latin typeface="Helvetica Neue"/>
                <a:ea typeface="Helvetica Neue"/>
                <a:cs typeface="Helvetica Neue"/>
              </a:rPr>
              <a:t>Backend selection does not transfer data or silently fall back.</a:t>
            </a:r>
          </a:p>
        </p:txBody>
      </p:sp>
    </p:spTree>
    <p:extLst>
      <p:ext uri="{BB962C8B-B14F-4D97-AF65-F5344CB8AC3E}">
        <p14:creationId xmlns:p14="http://schemas.microsoft.com/office/powerpoint/2010/main" val="393163989"/>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The event lifecycle">
            <a:extLst xmlns:a="http://schemas.openxmlformats.org/drawingml/2006/main">
              <a:ext uri="{FF2B5EF4-FFF2-40B4-BE49-F238E27FC236}">
                <a16:creationId xmlns:a16="http://schemas.microsoft.com/office/drawing/2014/main" id="{6F07E65C-2D62-4952-BFA9-279F5F1E063C}"/>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The event lifecycle</a:t>
            </a:r>
          </a:p>
        </p:txBody>
      </p:sp>
      <p:sp>
        <p:nvSpPr>
          <p:cNvPr id="2" name="TRUST AND SAFETY">
            <a:extLst xmlns:a="http://schemas.openxmlformats.org/drawingml/2006/main">
              <a:ext uri="{FF2B5EF4-FFF2-40B4-BE49-F238E27FC236}">
                <a16:creationId xmlns:a16="http://schemas.microsoft.com/office/drawing/2014/main" id="{8DEED58B-6AAA-4091-BD4D-C5489A4545F8}"/>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TRUST AND SAFETY</a:t>
            </a:r>
          </a:p>
        </p:txBody>
      </p:sp>
      <p:sp>
        <p:nvSpPr>
          <p:cNvPr id="3" name="RightRoom   October 13 2026">
            <a:extLst xmlns:a="http://schemas.openxmlformats.org/drawingml/2006/main">
              <a:ext uri="{FF2B5EF4-FFF2-40B4-BE49-F238E27FC236}">
                <a16:creationId xmlns:a16="http://schemas.microsoft.com/office/drawing/2014/main" id="{300062D4-E4FB-43D9-8126-FF4093564070}"/>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6">
            <a:extLst xmlns:a="http://schemas.openxmlformats.org/drawingml/2006/main">
              <a:ext uri="{FF2B5EF4-FFF2-40B4-BE49-F238E27FC236}">
                <a16:creationId xmlns:a16="http://schemas.microsoft.com/office/drawing/2014/main" id="{FA3FC62E-FDE5-4303-94DB-6C755FD1D999}"/>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06</a:t>
            </a:r>
          </a:p>
        </p:txBody>
      </p:sp>
      <p:graphicFrame>
        <p:nvGraphicFramePr>
          <p:cNvPr id="5" name="">
            <a:extLst xmlns:a="http://schemas.openxmlformats.org/drawingml/2006/main">
              <a:ext uri="{FF2B5EF4-FFF2-40B4-BE49-F238E27FC236}">
                <a16:creationId xmlns:a16="http://schemas.microsoft.com/office/drawing/2014/main" id="{488864BA-E079-4438-99A8-F56B26309C2F}"/>
              </a:ext>
            </a:extLst>
          </p:cNvPr>
          <p:cNvGraphicFramePr/>
          <p:nvPr/>
        </p:nvGraphicFramePr>
        <p:xfrm>
          <a:off xmlns:a="http://schemas.openxmlformats.org/drawingml/2006/main" x="704850" y="2000250"/>
          <a:ext xmlns:a="http://schemas.openxmlformats.org/drawingml/2006/main" cx="10782300" cy="3095625"/>
        </p:xfrm>
        <a:graphic xmlns:a="http://schemas.openxmlformats.org/drawingml/2006/main">
          <a:graphicData uri="http://schemas.openxmlformats.org/drawingml/2006/table">
            <a:tbl>
              <a:tblPr firstRow="1" bandRow="0"/>
              <a:tblGrid>
                <a:gridCol w="2333625"/>
                <a:gridCol w="4286250"/>
                <a:gridCol w="4162425"/>
              </a:tblGrid>
              <a:tr h="773906">
                <a:tc>
                  <a:txBody>
                    <a:bodyPr/>
                    <a:lstStyle/>
                    <a:p>
                      <a:r>
                        <a:rPr sz="1950" b="1">
                          <a:solidFill>
                            <a:srgbClr val="FFFFFF"/>
                          </a:solidFill>
                          <a:latin typeface="Helvetica Neue"/>
                          <a:ea typeface="Helvetica Neue"/>
                          <a:cs typeface="Helvetica Neue"/>
                        </a:rPr>
                        <a:t>Stage</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950" b="1">
                          <a:solidFill>
                            <a:srgbClr val="FFFFFF"/>
                          </a:solidFill>
                          <a:latin typeface="Helvetica Neue"/>
                          <a:ea typeface="Helvetica Neue"/>
                          <a:cs typeface="Helvetica Neue"/>
                        </a:rPr>
                        <a:t>What changes</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950" b="1">
                          <a:solidFill>
                            <a:srgbClr val="FFFFFF"/>
                          </a:solidFill>
                          <a:latin typeface="Helvetica Neue"/>
                          <a:ea typeface="Helvetica Neue"/>
                          <a:cs typeface="Helvetica Neue"/>
                        </a:rPr>
                        <a:t>Required check</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773906">
                <a:tc>
                  <a:txBody>
                    <a:bodyPr/>
                    <a:lstStyle/>
                    <a:p>
                      <a:r>
                        <a:rPr sz="1950" b="0">
                          <a:solidFill>
                            <a:srgbClr val="233C35"/>
                          </a:solidFill>
                          <a:latin typeface="Helvetica Neue"/>
                          <a:ea typeface="Helvetica Neue"/>
                          <a:cs typeface="Helvetica Neue"/>
                        </a:rPr>
                        <a:t>Private lead</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A listing is discovered and captured</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Supported identity and safe retrieval</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73906">
                <a:tc>
                  <a:txBody>
                    <a:bodyPr/>
                    <a:lstStyle/>
                    <a:p>
                      <a:r>
                        <a:rPr sz="1950" b="0">
                          <a:solidFill>
                            <a:srgbClr val="233C35"/>
                          </a:solidFill>
                          <a:latin typeface="Helvetica Neue"/>
                          <a:ea typeface="Helvetica Neue"/>
                          <a:cs typeface="Helvetica Neue"/>
                        </a:rPr>
                        <a:t>Private draft</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950" b="0">
                          <a:solidFill>
                            <a:srgbClr val="233C35"/>
                          </a:solidFill>
                          <a:latin typeface="Helvetica Neue"/>
                          <a:ea typeface="Helvetica Neue"/>
                          <a:cs typeface="Helvetica Neue"/>
                        </a:rPr>
                        <a:t>Normalized event facts are saved</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950" b="0">
                          <a:solidFill>
                            <a:srgbClr val="233C35"/>
                          </a:solidFill>
                          <a:latin typeface="Helvetica Neue"/>
                          <a:ea typeface="Helvetica Neue"/>
                          <a:cs typeface="Helvetica Neue"/>
                        </a:rPr>
                        <a:t>Evidence, relevance, time and NYC attendance</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773906">
                <a:tc>
                  <a:txBody>
                    <a:bodyPr/>
                    <a:lstStyle/>
                    <a:p>
                      <a:r>
                        <a:rPr sz="1950" b="0">
                          <a:solidFill>
                            <a:srgbClr val="233C35"/>
                          </a:solidFill>
                          <a:latin typeface="Helvetica Neue"/>
                          <a:ea typeface="Helvetica Neue"/>
                          <a:cs typeface="Helvetica Neue"/>
                        </a:rPr>
                        <a:t>Published event</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Approved public fields become visible</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Human approval of the current snapshot</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bl>
          </a:graphicData>
        </a:graphic>
      </p:graphicFrame>
      <p:sp>
        <p:nvSpPr>
          <p:cNvPr id="6" name="A conditional repair fixes structure whi">
            <a:extLst xmlns:a="http://schemas.openxmlformats.org/drawingml/2006/main">
              <a:ext uri="{FF2B5EF4-FFF2-40B4-BE49-F238E27FC236}">
                <a16:creationId xmlns:a16="http://schemas.microsoft.com/office/drawing/2014/main" id="{EE288735-FD1B-4031-AD40-29A15999B5DD}"/>
              </a:ext>
            </a:extLst>
          </p:cNvPr>
          <p:cNvSpPr>
            <a:spLocks xmlns:a="http://schemas.openxmlformats.org/drawingml/2006/main" noGrp="1"/>
          </p:cNvSpPr>
          <p:nvPr/>
        </p:nvSpPr>
        <p:spPr>
          <a:xfrm xmlns:a="http://schemas.openxmlformats.org/drawingml/2006/main">
            <a:off x="742950" y="5429250"/>
            <a:ext cx="1036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627069"/>
                </a:solidFill>
                <a:latin typeface="Helvetica Neue"/>
                <a:ea typeface="Helvetica Neue"/>
                <a:cs typeface="Helvetica Neue"/>
              </a:defRPr>
            </a:defPPr>
          </a:lstStyle>
          <a:p xmlns:a="http://schemas.openxmlformats.org/drawingml/2006/main">
            <a:pPr>
              <a:defRPr sz="2100">
                <a:solidFill>
                  <a:srgbClr val="627069"/>
                </a:solidFill>
                <a:latin typeface="Helvetica Neue"/>
                <a:ea typeface="Helvetica Neue"/>
                <a:cs typeface="Helvetica Neue"/>
              </a:defRPr>
            </a:pPr>
            <a:r>
              <a:rPr sz="2100">
                <a:solidFill>
                  <a:srgbClr val="627069"/>
                </a:solidFill>
                <a:latin typeface="Helvetica Neue"/>
                <a:ea typeface="Helvetica Neue"/>
                <a:cs typeface="Helvetica Neue"/>
              </a:rPr>
              <a:t>A conditional repair fixes structure while preserving facts. It cannot establish truth or replace review.</a:t>
            </a:r>
          </a:p>
        </p:txBody>
      </p:sp>
    </p:spTree>
    <p:extLst>
      <p:ext uri="{BB962C8B-B14F-4D97-AF65-F5344CB8AC3E}">
        <p14:creationId xmlns:p14="http://schemas.microsoft.com/office/powerpoint/2010/main" val="33039382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What is proven today">
            <a:extLst xmlns:a="http://schemas.openxmlformats.org/drawingml/2006/main">
              <a:ext uri="{FF2B5EF4-FFF2-40B4-BE49-F238E27FC236}">
                <a16:creationId xmlns:a16="http://schemas.microsoft.com/office/drawing/2014/main" id="{A8A00D7C-4BDF-4208-85F4-EFF5D080BF08}"/>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What is proven today</a:t>
            </a:r>
          </a:p>
        </p:txBody>
      </p:sp>
      <p:sp>
        <p:nvSpPr>
          <p:cNvPr id="2" name="CURRENT MATURITY">
            <a:extLst xmlns:a="http://schemas.openxmlformats.org/drawingml/2006/main">
              <a:ext uri="{FF2B5EF4-FFF2-40B4-BE49-F238E27FC236}">
                <a16:creationId xmlns:a16="http://schemas.microsoft.com/office/drawing/2014/main" id="{D893C37B-22CF-4D33-897E-4E934F6710C9}"/>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CURRENT MATURITY</a:t>
            </a:r>
          </a:p>
        </p:txBody>
      </p:sp>
      <p:sp>
        <p:nvSpPr>
          <p:cNvPr id="3" name="RightRoom   October 13 2026">
            <a:extLst xmlns:a="http://schemas.openxmlformats.org/drawingml/2006/main">
              <a:ext uri="{FF2B5EF4-FFF2-40B4-BE49-F238E27FC236}">
                <a16:creationId xmlns:a16="http://schemas.microsoft.com/office/drawing/2014/main" id="{63E75A2E-D373-4B05-8B15-1B8A73AAB533}"/>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7">
            <a:extLst xmlns:a="http://schemas.openxmlformats.org/drawingml/2006/main">
              <a:ext uri="{FF2B5EF4-FFF2-40B4-BE49-F238E27FC236}">
                <a16:creationId xmlns:a16="http://schemas.microsoft.com/office/drawing/2014/main" id="{FD23231D-8349-4CB2-8024-DC6A894740FB}"/>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07</a:t>
            </a:r>
          </a:p>
        </p:txBody>
      </p:sp>
      <p:graphicFrame>
        <p:nvGraphicFramePr>
          <p:cNvPr id="5" name="">
            <a:extLst xmlns:a="http://schemas.openxmlformats.org/drawingml/2006/main">
              <a:ext uri="{FF2B5EF4-FFF2-40B4-BE49-F238E27FC236}">
                <a16:creationId xmlns:a16="http://schemas.microsoft.com/office/drawing/2014/main" id="{178EC08F-CE1A-410C-BED6-577CD794329C}"/>
              </a:ext>
            </a:extLst>
          </p:cNvPr>
          <p:cNvGraphicFramePr/>
          <p:nvPr/>
        </p:nvGraphicFramePr>
        <p:xfrm>
          <a:off xmlns:a="http://schemas.openxmlformats.org/drawingml/2006/main" x="704850" y="2000250"/>
          <a:ext xmlns:a="http://schemas.openxmlformats.org/drawingml/2006/main" cx="10782300" cy="3352800"/>
        </p:xfrm>
        <a:graphic xmlns:a="http://schemas.openxmlformats.org/drawingml/2006/main">
          <a:graphicData uri="http://schemas.openxmlformats.org/drawingml/2006/table">
            <a:tbl>
              <a:tblPr firstRow="1" bandRow="0"/>
              <a:tblGrid>
                <a:gridCol w="5391150"/>
                <a:gridCol w="5391150"/>
              </a:tblGrid>
              <a:tr h="838200">
                <a:tc>
                  <a:txBody>
                    <a:bodyPr/>
                    <a:lstStyle/>
                    <a:p>
                      <a:r>
                        <a:rPr sz="2025" b="1">
                          <a:solidFill>
                            <a:srgbClr val="FFFFFF"/>
                          </a:solidFill>
                          <a:latin typeface="Helvetica Neue"/>
                          <a:ea typeface="Helvetica Neue"/>
                          <a:cs typeface="Helvetica Neue"/>
                        </a:rPr>
                        <a:t>Implemented and checked</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2025" b="1">
                          <a:solidFill>
                            <a:srgbClr val="FFFFFF"/>
                          </a:solidFill>
                          <a:latin typeface="Helvetica Neue"/>
                          <a:ea typeface="Helvetica Neue"/>
                          <a:cs typeface="Helvetica Neue"/>
                        </a:rPr>
                        <a:t>Still unproven</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838200">
                <a:tc>
                  <a:txBody>
                    <a:bodyPr/>
                    <a:lstStyle/>
                    <a:p>
                      <a:r>
                        <a:rPr sz="2025" b="0">
                          <a:solidFill>
                            <a:srgbClr val="233C35"/>
                          </a:solidFill>
                          <a:latin typeface="Helvetica Neue"/>
                          <a:ea typeface="Helvetica Neue"/>
                          <a:cs typeface="Helvetica Neue"/>
                        </a:rPr>
                        <a:t>308 deterministic offline tests</a:t>
                      </a:r>
                    </a:p>
                    <a:p>
                      <a:r>
                        <a:rPr sz="2025" b="0">
                          <a:solidFill>
                            <a:srgbClr val="233C35"/>
                          </a:solidFill>
                          <a:latin typeface="Helvetica Neue"/>
                          <a:ea typeface="Helvetica Neue"/>
                          <a:cs typeface="Helvetica Neue"/>
                        </a:rPr>
                        <a:t>Last full checkpoint October 9</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2025" b="0">
                          <a:solidFill>
                            <a:srgbClr val="233C35"/>
                          </a:solidFill>
                          <a:latin typeface="Helvetica Neue"/>
                          <a:ea typeface="Helvetica Neue"/>
                          <a:cs typeface="Helvetica Neue"/>
                        </a:rPr>
                        <a:t>Repeatable PM-event discovery</a:t>
                      </a:r>
                    </a:p>
                    <a:p>
                      <a:r>
                        <a:rPr sz="2025" b="0">
                          <a:solidFill>
                            <a:srgbClr val="233C35"/>
                          </a:solidFill>
                          <a:latin typeface="Helvetica Neue"/>
                          <a:ea typeface="Helvetica Neue"/>
                          <a:cs typeface="Helvetica Neue"/>
                        </a:rPr>
                        <a:t>Broad community coverage</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838200">
                <a:tc>
                  <a:txBody>
                    <a:bodyPr/>
                    <a:lstStyle/>
                    <a:p>
                      <a:r>
                        <a:rPr sz="2025" b="0">
                          <a:solidFill>
                            <a:srgbClr val="233C35"/>
                          </a:solidFill>
                          <a:latin typeface="Helvetica Neue"/>
                          <a:ea typeface="Helvetica Neue"/>
                          <a:cs typeface="Helvetica Neue"/>
                        </a:rPr>
                        <a:t>Small live runs produced drafts</a:t>
                      </a:r>
                    </a:p>
                    <a:p>
                      <a:r>
                        <a:rPr sz="2025" b="0">
                          <a:solidFill>
                            <a:srgbClr val="233C35"/>
                          </a:solidFill>
                          <a:latin typeface="Helvetica Neue"/>
                          <a:ea typeface="Helvetica Neue"/>
                          <a:cs typeface="Helvetica Neue"/>
                        </a:rPr>
                        <a:t>Human publication workflow works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2025" b="0">
                          <a:solidFill>
                            <a:srgbClr val="233C35"/>
                          </a:solidFill>
                          <a:latin typeface="Helvetica Neue"/>
                          <a:ea typeface="Helvetica Neue"/>
                          <a:cs typeface="Helvetica Neue"/>
                        </a:rPr>
                        <a:t>Calibrated recommendation quality</a:t>
                      </a:r>
                    </a:p>
                    <a:p>
                      <a:r>
                        <a:rPr sz="2025" b="0">
                          <a:solidFill>
                            <a:srgbClr val="233C35"/>
                          </a:solidFill>
                          <a:latin typeface="Helvetica Neue"/>
                          <a:ea typeface="Helvetica Neue"/>
                          <a:cs typeface="Helvetica Neue"/>
                        </a:rPr>
                        <a:t>Time saved or career outcomes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838200">
                <a:tc>
                  <a:txBody>
                    <a:bodyPr/>
                    <a:lstStyle/>
                    <a:p>
                      <a:r>
                        <a:rPr sz="2025" b="0">
                          <a:solidFill>
                            <a:srgbClr val="233C35"/>
                          </a:solidFill>
                          <a:latin typeface="Helvetica Neue"/>
                          <a:ea typeface="Helvetica Neue"/>
                          <a:cs typeface="Helvetica Neue"/>
                        </a:rPr>
                        <a:t>Local shortlist and failure recovery</a:t>
                      </a:r>
                    </a:p>
                    <a:p>
                      <a:r>
                        <a:rPr sz="2025" b="0">
                          <a:solidFill>
                            <a:srgbClr val="233C35"/>
                          </a:solidFill>
                          <a:latin typeface="Helvetica Neue"/>
                          <a:ea typeface="Helvetica Neue"/>
                          <a:cs typeface="Helvetica Neue"/>
                        </a:rPr>
                        <a:t>Production-page checks passed</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2025" b="0">
                          <a:solidFill>
                            <a:srgbClr val="233C35"/>
                          </a:solidFill>
                          <a:latin typeface="Helvetica Neue"/>
                          <a:ea typeface="Helvetica Neue"/>
                          <a:cs typeface="Helvetica Neue"/>
                        </a:rPr>
                        <a:t>Hosted operations and freshness</a:t>
                      </a:r>
                    </a:p>
                    <a:p>
                      <a:r>
                        <a:rPr sz="2025" b="0">
                          <a:solidFill>
                            <a:srgbClr val="233C35"/>
                          </a:solidFill>
                          <a:latin typeface="Helvetica Neue"/>
                          <a:ea typeface="Helvetica Neue"/>
                          <a:cs typeface="Helvetica Neue"/>
                        </a:rPr>
                        <a:t>Self-serve profile selection</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bl>
          </a:graphicData>
        </a:graphic>
      </p:graphicFrame>
      <p:sp>
        <p:nvSpPr>
          <p:cNvPr id="6" name="Software correctness and product usefuln">
            <a:extLst xmlns:a="http://schemas.openxmlformats.org/drawingml/2006/main">
              <a:ext uri="{FF2B5EF4-FFF2-40B4-BE49-F238E27FC236}">
                <a16:creationId xmlns:a16="http://schemas.microsoft.com/office/drawing/2014/main" id="{56F94026-BB49-4916-B265-720A682E1B1C}"/>
              </a:ext>
            </a:extLst>
          </p:cNvPr>
          <p:cNvSpPr>
            <a:spLocks xmlns:a="http://schemas.openxmlformats.org/drawingml/2006/main" noGrp="1"/>
          </p:cNvSpPr>
          <p:nvPr/>
        </p:nvSpPr>
        <p:spPr>
          <a:xfrm xmlns:a="http://schemas.openxmlformats.org/drawingml/2006/main">
            <a:off x="742950" y="5810250"/>
            <a:ext cx="1042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a:solidFill>
                  <a:srgbClr val="627069"/>
                </a:solidFill>
                <a:latin typeface="Helvetica Neue"/>
                <a:ea typeface="Helvetica Neue"/>
                <a:cs typeface="Helvetica Neue"/>
              </a:defRPr>
            </a:defPPr>
          </a:lstStyle>
          <a:p xmlns:a="http://schemas.openxmlformats.org/drawingml/2006/main">
            <a:pPr>
              <a:defRPr sz="2100">
                <a:solidFill>
                  <a:srgbClr val="627069"/>
                </a:solidFill>
                <a:latin typeface="Helvetica Neue"/>
                <a:ea typeface="Helvetica Neue"/>
                <a:cs typeface="Helvetica Neue"/>
              </a:defRPr>
            </a:pPr>
            <a:r>
              <a:rPr sz="2100">
                <a:solidFill>
                  <a:srgbClr val="627069"/>
                </a:solidFill>
                <a:latin typeface="Helvetica Neue"/>
                <a:ea typeface="Helvetica Neue"/>
                <a:cs typeface="Helvetica Neue"/>
              </a:rPr>
              <a:t>Software correctness and product usefulness need different evidence.</a:t>
            </a:r>
          </a:p>
        </p:txBody>
      </p:sp>
    </p:spTree>
    <p:extLst>
      <p:ext uri="{BB962C8B-B14F-4D97-AF65-F5344CB8AC3E}">
        <p14:creationId xmlns:p14="http://schemas.microsoft.com/office/powerpoint/2010/main" val="1229159066"/>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Early product feedback">
            <a:extLst xmlns:a="http://schemas.openxmlformats.org/drawingml/2006/main">
              <a:ext uri="{FF2B5EF4-FFF2-40B4-BE49-F238E27FC236}">
                <a16:creationId xmlns:a16="http://schemas.microsoft.com/office/drawing/2014/main" id="{A90D2703-E493-4A9F-85E8-AEDFA889F291}"/>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Early product feedback</a:t>
            </a:r>
          </a:p>
        </p:txBody>
      </p:sp>
      <p:sp>
        <p:nvSpPr>
          <p:cNvPr id="2" name="QUALITATIVE EVIDENCE">
            <a:extLst xmlns:a="http://schemas.openxmlformats.org/drawingml/2006/main">
              <a:ext uri="{FF2B5EF4-FFF2-40B4-BE49-F238E27FC236}">
                <a16:creationId xmlns:a16="http://schemas.microsoft.com/office/drawing/2014/main" id="{2A87154B-9438-44D3-B66E-9BD433B9F48A}"/>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QUALITATIVE EVIDENCE</a:t>
            </a:r>
          </a:p>
        </p:txBody>
      </p:sp>
      <p:sp>
        <p:nvSpPr>
          <p:cNvPr id="3" name="RightRoom   October 13 2026">
            <a:extLst xmlns:a="http://schemas.openxmlformats.org/drawingml/2006/main">
              <a:ext uri="{FF2B5EF4-FFF2-40B4-BE49-F238E27FC236}">
                <a16:creationId xmlns:a16="http://schemas.microsoft.com/office/drawing/2014/main" id="{43D00187-06BB-42DD-950D-A727DF4AD364}"/>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8">
            <a:extLst xmlns:a="http://schemas.openxmlformats.org/drawingml/2006/main">
              <a:ext uri="{FF2B5EF4-FFF2-40B4-BE49-F238E27FC236}">
                <a16:creationId xmlns:a16="http://schemas.microsoft.com/office/drawing/2014/main" id="{B1D3A4DD-FCEF-4362-B328-B58B3DC7053C}"/>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08</a:t>
            </a:r>
          </a:p>
        </p:txBody>
      </p:sp>
      <p:graphicFrame>
        <p:nvGraphicFramePr>
          <p:cNvPr id="5" name="">
            <a:extLst xmlns:a="http://schemas.openxmlformats.org/drawingml/2006/main">
              <a:ext uri="{FF2B5EF4-FFF2-40B4-BE49-F238E27FC236}">
                <a16:creationId xmlns:a16="http://schemas.microsoft.com/office/drawing/2014/main" id="{C617632E-98E6-4FD0-8FD0-129DFA3B5F4A}"/>
              </a:ext>
            </a:extLst>
          </p:cNvPr>
          <p:cNvGraphicFramePr/>
          <p:nvPr/>
        </p:nvGraphicFramePr>
        <p:xfrm>
          <a:off xmlns:a="http://schemas.openxmlformats.org/drawingml/2006/main" x="704850" y="2000250"/>
          <a:ext xmlns:a="http://schemas.openxmlformats.org/drawingml/2006/main" cx="10782300" cy="3143250"/>
        </p:xfrm>
        <a:graphic xmlns:a="http://schemas.openxmlformats.org/drawingml/2006/main">
          <a:graphicData uri="http://schemas.openxmlformats.org/drawingml/2006/table">
            <a:tbl>
              <a:tblPr firstRow="1" bandRow="0"/>
              <a:tblGrid>
                <a:gridCol w="3676650"/>
                <a:gridCol w="2286000"/>
                <a:gridCol w="4819650"/>
              </a:tblGrid>
              <a:tr h="785813">
                <a:tc>
                  <a:txBody>
                    <a:bodyPr/>
                    <a:lstStyle/>
                    <a:p>
                      <a:r>
                        <a:rPr sz="1950" b="1">
                          <a:solidFill>
                            <a:srgbClr val="FFFFFF"/>
                          </a:solidFill>
                          <a:latin typeface="Helvetica Neue"/>
                          <a:ea typeface="Helvetica Neue"/>
                          <a:cs typeface="Helvetica Neue"/>
                        </a:rPr>
                        <a:t>Event</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950" b="1">
                          <a:solidFill>
                            <a:srgbClr val="FFFFFF"/>
                          </a:solidFill>
                          <a:latin typeface="Helvetica Neue"/>
                          <a:ea typeface="Helvetica Neue"/>
                          <a:cs typeface="Helvetica Neue"/>
                        </a:rPr>
                        <a:t>User decision</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950" b="1">
                          <a:solidFill>
                            <a:srgbClr val="FFFFFF"/>
                          </a:solidFill>
                          <a:latin typeface="Helvetica Neue"/>
                          <a:ea typeface="Helvetica Neue"/>
                          <a:cs typeface="Helvetica Neue"/>
                        </a:rPr>
                        <a:t>Reason</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785813">
                <a:tc>
                  <a:txBody>
                    <a:bodyPr/>
                    <a:lstStyle/>
                    <a:p>
                      <a:r>
                        <a:rPr sz="1950" b="0">
                          <a:solidFill>
                            <a:srgbClr val="233C35"/>
                          </a:solidFill>
                          <a:latin typeface="Helvetica Neue"/>
                          <a:ea typeface="Helvetica Neue"/>
                          <a:cs typeface="Helvetica Neue"/>
                        </a:rPr>
                        <a:t>Supabase and Grafana</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Maybe</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Relevant to technical background</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85813">
                <a:tc>
                  <a:txBody>
                    <a:bodyPr/>
                    <a:lstStyle/>
                    <a:p>
                      <a:r>
                        <a:rPr sz="1950" b="0">
                          <a:solidFill>
                            <a:srgbClr val="233C35"/>
                          </a:solidFill>
                          <a:latin typeface="Helvetica Neue"/>
                          <a:ea typeface="Helvetica Neue"/>
                          <a:cs typeface="Helvetica Neue"/>
                        </a:rPr>
                        <a:t>Agentic AI on AWS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950" b="0">
                          <a:solidFill>
                            <a:srgbClr val="233C35"/>
                          </a:solidFill>
                          <a:latin typeface="Helvetica Neue"/>
                          <a:ea typeface="Helvetica Neue"/>
                          <a:cs typeface="Helvetica Neue"/>
                        </a:rPr>
                        <a:t>No</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950" b="0">
                          <a:solidFill>
                            <a:srgbClr val="233C35"/>
                          </a:solidFill>
                          <a:latin typeface="Helvetica Neue"/>
                          <a:ea typeface="Helvetica Neue"/>
                          <a:cs typeface="Helvetica Neue"/>
                        </a:rPr>
                        <a:t>Company-name requirement creates uncertainty</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785813">
                <a:tc>
                  <a:txBody>
                    <a:bodyPr/>
                    <a:lstStyle/>
                    <a:p>
                      <a:r>
                        <a:rPr sz="1950" b="0">
                          <a:solidFill>
                            <a:srgbClr val="233C35"/>
                          </a:solidFill>
                          <a:latin typeface="Helvetica Neue"/>
                          <a:ea typeface="Helvetica Neue"/>
                          <a:cs typeface="Helvetica Neue"/>
                        </a:rPr>
                        <a:t>Lenny PM meetup</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Interested</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950" b="0">
                          <a:solidFill>
                            <a:srgbClr val="233C35"/>
                          </a:solidFill>
                          <a:latin typeface="Helvetica Neue"/>
                          <a:ea typeface="Helvetica Neue"/>
                          <a:cs typeface="Helvetica Neue"/>
                        </a:rPr>
                        <a:t>User interest in a PM-community listing</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bl>
          </a:graphicData>
        </a:graphic>
      </p:graphicFrame>
      <p:sp>
        <p:nvSpPr>
          <p:cNvPr id="6" name="Career relevance and practical access mu">
            <a:extLst xmlns:a="http://schemas.openxmlformats.org/drawingml/2006/main">
              <a:ext uri="{FF2B5EF4-FFF2-40B4-BE49-F238E27FC236}">
                <a16:creationId xmlns:a16="http://schemas.microsoft.com/office/drawing/2014/main" id="{90390B63-3517-4910-A1E2-90D9E3C35B9D}"/>
              </a:ext>
            </a:extLst>
          </p:cNvPr>
          <p:cNvSpPr>
            <a:spLocks xmlns:a="http://schemas.openxmlformats.org/drawingml/2006/main" noGrp="1"/>
          </p:cNvSpPr>
          <p:nvPr/>
        </p:nvSpPr>
        <p:spPr>
          <a:xfrm xmlns:a="http://schemas.openxmlformats.org/drawingml/2006/main">
            <a:off x="742950" y="54959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33C35"/>
                </a:solidFill>
                <a:latin typeface="Helvetica Neue"/>
                <a:ea typeface="Helvetica Neue"/>
                <a:cs typeface="Helvetica Neue"/>
              </a:defRPr>
            </a:defPPr>
          </a:lstStyle>
          <a:p xmlns:a="http://schemas.openxmlformats.org/drawingml/2006/main">
            <a:pPr>
              <a:defRPr sz="2400" b="1">
                <a:solidFill>
                  <a:srgbClr val="233C35"/>
                </a:solidFill>
                <a:latin typeface="Helvetica Neue"/>
                <a:ea typeface="Helvetica Neue"/>
                <a:cs typeface="Helvetica Neue"/>
              </a:defRPr>
            </a:pPr>
            <a:r>
              <a:rPr sz="2400" b="1">
                <a:solidFill>
                  <a:srgbClr val="233C35"/>
                </a:solidFill>
                <a:latin typeface="Helvetica Neue"/>
                <a:ea typeface="Helvetica Neue"/>
                <a:cs typeface="Helvetica Neue"/>
              </a:rPr>
              <a:t>Career relevance and practical access must remain separate.</a:t>
            </a:r>
          </a:p>
        </p:txBody>
      </p:sp>
    </p:spTree>
    <p:extLst>
      <p:ext uri="{BB962C8B-B14F-4D97-AF65-F5344CB8AC3E}">
        <p14:creationId xmlns:p14="http://schemas.microsoft.com/office/powerpoint/2010/main" val="196713890"/>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The first finished product">
            <a:extLst xmlns:a="http://schemas.openxmlformats.org/drawingml/2006/main">
              <a:ext uri="{FF2B5EF4-FFF2-40B4-BE49-F238E27FC236}">
                <a16:creationId xmlns:a16="http://schemas.microsoft.com/office/drawing/2014/main" id="{D94D8BB0-5B31-46D2-947E-BF9ED162D724}"/>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The first finished product</a:t>
            </a:r>
          </a:p>
        </p:txBody>
      </p:sp>
      <p:sp>
        <p:nvSpPr>
          <p:cNvPr id="2" name="PROPOSED HOSTED NYC PILOT">
            <a:extLst xmlns:a="http://schemas.openxmlformats.org/drawingml/2006/main">
              <a:ext uri="{FF2B5EF4-FFF2-40B4-BE49-F238E27FC236}">
                <a16:creationId xmlns:a16="http://schemas.microsoft.com/office/drawing/2014/main" id="{4BF2DC22-72E0-414E-AFE2-E50942802C8D}"/>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PROPOSED HOSTED NYC PILOT</a:t>
            </a:r>
          </a:p>
        </p:txBody>
      </p:sp>
      <p:sp>
        <p:nvSpPr>
          <p:cNvPr id="3" name="RightRoom   October 13 2026">
            <a:extLst xmlns:a="http://schemas.openxmlformats.org/drawingml/2006/main">
              <a:ext uri="{FF2B5EF4-FFF2-40B4-BE49-F238E27FC236}">
                <a16:creationId xmlns:a16="http://schemas.microsoft.com/office/drawing/2014/main" id="{B103B66F-88DD-4335-8B2A-21983906D5D2}"/>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09">
            <a:extLst xmlns:a="http://schemas.openxmlformats.org/drawingml/2006/main">
              <a:ext uri="{FF2B5EF4-FFF2-40B4-BE49-F238E27FC236}">
                <a16:creationId xmlns:a16="http://schemas.microsoft.com/office/drawing/2014/main" id="{9292CF80-B715-4BD9-A46F-802A6DD7278D}"/>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AF48461-303F-41FB-9AB9-36FC2615FDA9}"/>
              </a:ext>
            </a:extLst>
          </p:cNvPr>
          <p:cNvSpPr>
            <a:spLocks xmlns:a="http://schemas.openxmlformats.org/drawingml/2006/main" noGrp="1"/>
          </p:cNvSpPr>
          <p:nvPr/>
        </p:nvSpPr>
        <p:spPr>
          <a:xfrm xmlns:a="http://schemas.openxmlformats.org/drawingml/2006/main">
            <a:off x="762000" y="1971675"/>
            <a:ext cx="1038225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233C35"/>
                </a:solidFill>
                <a:latin typeface="Helvetica Neue"/>
                <a:ea typeface="Helvetica Neue"/>
                <a:cs typeface="Helvetica Neue"/>
              </a:defRPr>
            </a:defPPr>
          </a:lstStyle>
          <a:p xmlns:a="http://schemas.openxmlformats.org/drawingml/2006/main">
            <a:pPr marL="228600" indent="-127000">
              <a:spcAft>
                <a:spcPts val="2000"/>
              </a:spcAft>
              <a:buChar cha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A current, reviewed NYC event feed</a:t>
            </a:r>
          </a:p>
          <a:p xmlns:a="http://schemas.openxmlformats.org/drawingml/2006/main">
            <a:pPr marL="228600" indent="-127000">
              <a:spcAft>
                <a:spcPts val="2000"/>
              </a:spcAft>
              <a:buChar cha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Understandable fit and attendance caveats</a:t>
            </a:r>
          </a:p>
          <a:p xmlns:a="http://schemas.openxmlformats.org/drawingml/2006/main">
            <a:pPr marL="228600" indent="-127000">
              <a:spcAft>
                <a:spcPts val="2000"/>
              </a:spcAft>
              <a:buChar cha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Local saves and original registration links</a:t>
            </a:r>
          </a:p>
          <a:p xmlns:a="http://schemas.openxmlformats.org/drawingml/2006/main">
            <a:pPr marL="228600" indent="-127000">
              <a:spcAft>
                <a:spcPts val="2000"/>
              </a:spcAft>
              <a:buChar cha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A small set of approved career targets</a:t>
            </a:r>
          </a:p>
          <a:p xmlns:a="http://schemas.openxmlformats.org/drawingml/2006/main">
            <a:pPr marL="228600" indent="-127000">
              <a:spcAft>
                <a:spcPts val="2000"/>
              </a:spcAft>
              <a:buChar char="•"/>
              <a:defRPr sz="2325">
                <a:solidFill>
                  <a:srgbClr val="233C35"/>
                </a:solidFill>
                <a:latin typeface="Helvetica Neue"/>
                <a:ea typeface="Helvetica Neue"/>
                <a:cs typeface="Helvetica Neue"/>
              </a:defRPr>
            </a:pPr>
            <a:r>
              <a:rPr sz="2325">
                <a:solidFill>
                  <a:srgbClr val="233C35"/>
                </a:solidFill>
                <a:latin typeface="Helvetica Neue"/>
                <a:ea typeface="Helvetica Neue"/>
                <a:cs typeface="Helvetica Neue"/>
              </a:rPr>
              <a:t>Safe operator access and maintainable freshness</a:t>
            </a:r>
          </a:p>
        </p:txBody>
      </p:sp>
      <p:sp>
        <p:nvSpPr>
          <p:cNvPr id="6" name="No automatic RSVP, outreach or hiring pr">
            <a:extLst xmlns:a="http://schemas.openxmlformats.org/drawingml/2006/main">
              <a:ext uri="{FF2B5EF4-FFF2-40B4-BE49-F238E27FC236}">
                <a16:creationId xmlns:a16="http://schemas.microsoft.com/office/drawing/2014/main" id="{81F26B49-601F-4198-9AAC-EF264BE6CD71}"/>
              </a:ext>
            </a:extLst>
          </p:cNvPr>
          <p:cNvSpPr>
            <a:spLocks xmlns:a="http://schemas.openxmlformats.org/drawingml/2006/main" noGrp="1"/>
          </p:cNvSpPr>
          <p:nvPr/>
        </p:nvSpPr>
        <p:spPr>
          <a:xfrm xmlns:a="http://schemas.openxmlformats.org/drawingml/2006/main">
            <a:off x="762000" y="58864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627069"/>
                </a:solidFill>
                <a:latin typeface="Helvetica Neue"/>
                <a:ea typeface="Helvetica Neue"/>
                <a:cs typeface="Helvetica Neue"/>
              </a:defRPr>
            </a:defPPr>
          </a:lstStyle>
          <a:p xmlns:a="http://schemas.openxmlformats.org/drawingml/2006/main">
            <a:pPr>
              <a:defRPr sz="1875">
                <a:solidFill>
                  <a:srgbClr val="627069"/>
                </a:solidFill>
                <a:latin typeface="Helvetica Neue"/>
                <a:ea typeface="Helvetica Neue"/>
                <a:cs typeface="Helvetica Neue"/>
              </a:defRPr>
            </a:pPr>
            <a:r>
              <a:rPr sz="1875">
                <a:solidFill>
                  <a:srgbClr val="627069"/>
                </a:solidFill>
                <a:latin typeface="Helvetica Neue"/>
                <a:ea typeface="Helvetica Neue"/>
                <a:cs typeface="Helvetica Neue"/>
              </a:rPr>
              <a:t>No automatic RSVP, outreach or hiring promises.</a:t>
            </a:r>
          </a:p>
        </p:txBody>
      </p:sp>
    </p:spTree>
    <p:extLst>
      <p:ext uri="{BB962C8B-B14F-4D97-AF65-F5344CB8AC3E}">
        <p14:creationId xmlns:p14="http://schemas.microsoft.com/office/powerpoint/2010/main" val="1142325773"/>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Roadmap">
            <a:extLst xmlns:a="http://schemas.openxmlformats.org/drawingml/2006/main">
              <a:ext uri="{FF2B5EF4-FFF2-40B4-BE49-F238E27FC236}">
                <a16:creationId xmlns:a16="http://schemas.microsoft.com/office/drawing/2014/main" id="{2056F42B-F5AE-4E4E-B83A-87C67568B02F}"/>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Roadmap</a:t>
            </a:r>
          </a:p>
        </p:txBody>
      </p:sp>
      <p:sp>
        <p:nvSpPr>
          <p:cNvPr id="2" name="PROPOSED RELEASE GATES">
            <a:extLst xmlns:a="http://schemas.openxmlformats.org/drawingml/2006/main">
              <a:ext uri="{FF2B5EF4-FFF2-40B4-BE49-F238E27FC236}">
                <a16:creationId xmlns:a16="http://schemas.microsoft.com/office/drawing/2014/main" id="{49E1E762-681C-43CF-AC83-63EF822F10EC}"/>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PROPOSED RELEASE GATES</a:t>
            </a:r>
          </a:p>
        </p:txBody>
      </p:sp>
      <p:sp>
        <p:nvSpPr>
          <p:cNvPr id="3" name="RightRoom   October 13 2026">
            <a:extLst xmlns:a="http://schemas.openxmlformats.org/drawingml/2006/main">
              <a:ext uri="{FF2B5EF4-FFF2-40B4-BE49-F238E27FC236}">
                <a16:creationId xmlns:a16="http://schemas.microsoft.com/office/drawing/2014/main" id="{856DDFFB-E474-40E0-939F-7EBED62CF09F}"/>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10">
            <a:extLst xmlns:a="http://schemas.openxmlformats.org/drawingml/2006/main">
              <a:ext uri="{FF2B5EF4-FFF2-40B4-BE49-F238E27FC236}">
                <a16:creationId xmlns:a16="http://schemas.microsoft.com/office/drawing/2014/main" id="{96900729-EC93-4F6A-B7BF-E8E8456AA24F}"/>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10</a:t>
            </a:r>
          </a:p>
        </p:txBody>
      </p:sp>
      <p:graphicFrame>
        <p:nvGraphicFramePr>
          <p:cNvPr id="5" name="">
            <a:extLst xmlns:a="http://schemas.openxmlformats.org/drawingml/2006/main">
              <a:ext uri="{FF2B5EF4-FFF2-40B4-BE49-F238E27FC236}">
                <a16:creationId xmlns:a16="http://schemas.microsoft.com/office/drawing/2014/main" id="{D5086F7F-EE2D-465B-B17E-B710BE44AA01}"/>
              </a:ext>
            </a:extLst>
          </p:cNvPr>
          <p:cNvGraphicFramePr/>
          <p:nvPr/>
        </p:nvGraphicFramePr>
        <p:xfrm>
          <a:off xmlns:a="http://schemas.openxmlformats.org/drawingml/2006/main" x="704850" y="2000250"/>
          <a:ext xmlns:a="http://schemas.openxmlformats.org/drawingml/2006/main" cx="10782300" cy="3667125"/>
        </p:xfrm>
        <a:graphic xmlns:a="http://schemas.openxmlformats.org/drawingml/2006/main">
          <a:graphicData uri="http://schemas.openxmlformats.org/drawingml/2006/table">
            <a:tbl>
              <a:tblPr firstRow="1" bandRow="0"/>
              <a:tblGrid>
                <a:gridCol w="3219450"/>
                <a:gridCol w="4095750"/>
                <a:gridCol w="3467100"/>
              </a:tblGrid>
              <a:tr h="733425">
                <a:tc>
                  <a:txBody>
                    <a:bodyPr/>
                    <a:lstStyle/>
                    <a:p>
                      <a:r>
                        <a:rPr sz="1875" b="1">
                          <a:solidFill>
                            <a:srgbClr val="FFFFFF"/>
                          </a:solidFill>
                          <a:latin typeface="Helvetica Neue"/>
                          <a:ea typeface="Helvetica Neue"/>
                          <a:cs typeface="Helvetica Neue"/>
                        </a:rPr>
                        <a:t>Milestone</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Focus</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Exit gate</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733425">
                <a:tc>
                  <a:txBody>
                    <a:bodyPr/>
                    <a:lstStyle/>
                    <a:p>
                      <a:r>
                        <a:rPr sz="1875" b="0">
                          <a:solidFill>
                            <a:srgbClr val="233C35"/>
                          </a:solidFill>
                          <a:latin typeface="Helvetica Neue"/>
                          <a:ea typeface="Helvetica Neue"/>
                          <a:cs typeface="Helvetica Neue"/>
                        </a:rPr>
                        <a:t>1 Useful PM discovery</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Budget policy and verified coverage</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Repeatable relevant leads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33425">
                <a:tc>
                  <a:txBody>
                    <a:bodyPr/>
                    <a:lstStyle/>
                    <a:p>
                      <a:r>
                        <a:rPr sz="1875" b="0">
                          <a:solidFill>
                            <a:srgbClr val="233C35"/>
                          </a:solidFill>
                          <a:latin typeface="Helvetica Neue"/>
                          <a:ea typeface="Helvetica Neue"/>
                          <a:cs typeface="Helvetica Neue"/>
                        </a:rPr>
                        <a:t>2 Decision quality</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Target-user evaluation and calibration</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Useful, understood decisions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733425">
                <a:tc>
                  <a:txBody>
                    <a:bodyPr/>
                    <a:lstStyle/>
                    <a:p>
                      <a:r>
                        <a:rPr sz="1875" b="0">
                          <a:solidFill>
                            <a:srgbClr val="233C35"/>
                          </a:solidFill>
                          <a:latin typeface="Helvetica Neue"/>
                          <a:ea typeface="Helvetica Neue"/>
                          <a:cs typeface="Helvetica Neue"/>
                        </a:rPr>
                        <a:t>3 Hosted NYC pilot</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Storage, operator access and freshness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Safe hosted journey</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733425">
                <a:tc>
                  <a:txBody>
                    <a:bodyPr/>
                    <a:lstStyle/>
                    <a:p>
                      <a:r>
                        <a:rPr sz="1875" b="0">
                          <a:solidFill>
                            <a:srgbClr val="233C35"/>
                          </a:solidFill>
                          <a:latin typeface="Helvetica Neue"/>
                          <a:ea typeface="Helvetica Neue"/>
                          <a:cs typeface="Helvetica Neue"/>
                        </a:rPr>
                        <a:t>4 Self-serve product</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Feedback-led profile and save features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Sustained usefulness and viable cost</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bl>
          </a:graphicData>
        </a:graphic>
      </p:graphicFrame>
      <p:sp>
        <p:nvSpPr>
          <p:cNvPr id="6" name="Set dates after policy, deployment and p">
            <a:extLst xmlns:a="http://schemas.openxmlformats.org/drawingml/2006/main">
              <a:ext uri="{FF2B5EF4-FFF2-40B4-BE49-F238E27FC236}">
                <a16:creationId xmlns:a16="http://schemas.microsoft.com/office/drawing/2014/main" id="{E6AAE262-4548-43F0-AA80-41DD5334212C}"/>
              </a:ext>
            </a:extLst>
          </p:cNvPr>
          <p:cNvSpPr>
            <a:spLocks xmlns:a="http://schemas.openxmlformats.org/drawingml/2006/main" noGrp="1"/>
          </p:cNvSpPr>
          <p:nvPr/>
        </p:nvSpPr>
        <p:spPr>
          <a:xfrm xmlns:a="http://schemas.openxmlformats.org/drawingml/2006/main">
            <a:off x="742950" y="5953125"/>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627069"/>
                </a:solidFill>
                <a:latin typeface="Helvetica Neue"/>
                <a:ea typeface="Helvetica Neue"/>
                <a:cs typeface="Helvetica Neue"/>
              </a:defRPr>
            </a:defPPr>
          </a:lstStyle>
          <a:p xmlns:a="http://schemas.openxmlformats.org/drawingml/2006/main">
            <a:pPr>
              <a:defRPr sz="1800">
                <a:solidFill>
                  <a:srgbClr val="627069"/>
                </a:solidFill>
                <a:latin typeface="Helvetica Neue"/>
                <a:ea typeface="Helvetica Neue"/>
                <a:cs typeface="Helvetica Neue"/>
              </a:defRPr>
            </a:pPr>
            <a:r>
              <a:rPr sz="1800">
                <a:solidFill>
                  <a:srgbClr val="627069"/>
                </a:solidFill>
                <a:latin typeface="Helvetica Neue"/>
                <a:ea typeface="Helvetica Neue"/>
                <a:cs typeface="Helvetica Neue"/>
              </a:rPr>
              <a:t>Set dates after policy, deployment and pilot scope decisions.</a:t>
            </a:r>
          </a:p>
        </p:txBody>
      </p:sp>
    </p:spTree>
    <p:extLst>
      <p:ext uri="{BB962C8B-B14F-4D97-AF65-F5344CB8AC3E}">
        <p14:creationId xmlns:p14="http://schemas.microsoft.com/office/powerpoint/2010/main" val="536720544"/>
      </p:ext>
    </p:extLst>
  </p:cSld>
</p:sld>
</file>

<file path=ppt/slides/slide1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Pilot success measures">
            <a:extLst xmlns:a="http://schemas.openxmlformats.org/drawingml/2006/main">
              <a:ext uri="{FF2B5EF4-FFF2-40B4-BE49-F238E27FC236}">
                <a16:creationId xmlns:a16="http://schemas.microsoft.com/office/drawing/2014/main" id="{7097818C-D6D1-45C7-ACA9-5C3ABA4C5AB1}"/>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Pilot success measures</a:t>
            </a:r>
          </a:p>
        </p:txBody>
      </p:sp>
      <p:sp>
        <p:nvSpPr>
          <p:cNvPr id="2" name="PROPOSED TARGETS   NO MEASURED BASELINE">
            <a:extLst xmlns:a="http://schemas.openxmlformats.org/drawingml/2006/main">
              <a:ext uri="{FF2B5EF4-FFF2-40B4-BE49-F238E27FC236}">
                <a16:creationId xmlns:a16="http://schemas.microsoft.com/office/drawing/2014/main" id="{D7B02BB2-FC87-426F-9D37-023361825E83}"/>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PROPOSED TARGETS   NO MEASURED BASELINE</a:t>
            </a:r>
          </a:p>
        </p:txBody>
      </p:sp>
      <p:sp>
        <p:nvSpPr>
          <p:cNvPr id="3" name="RightRoom   October 13 2026">
            <a:extLst xmlns:a="http://schemas.openxmlformats.org/drawingml/2006/main">
              <a:ext uri="{FF2B5EF4-FFF2-40B4-BE49-F238E27FC236}">
                <a16:creationId xmlns:a16="http://schemas.microsoft.com/office/drawing/2014/main" id="{BBD06CEC-B180-4847-812F-6C47EDFDAD54}"/>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11">
            <a:extLst xmlns:a="http://schemas.openxmlformats.org/drawingml/2006/main">
              <a:ext uri="{FF2B5EF4-FFF2-40B4-BE49-F238E27FC236}">
                <a16:creationId xmlns:a16="http://schemas.microsoft.com/office/drawing/2014/main" id="{C43DA1CE-8635-46BE-A61B-25BEA1C30739}"/>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11</a:t>
            </a:r>
          </a:p>
        </p:txBody>
      </p:sp>
      <p:graphicFrame>
        <p:nvGraphicFramePr>
          <p:cNvPr id="5" name="">
            <a:extLst xmlns:a="http://schemas.openxmlformats.org/drawingml/2006/main">
              <a:ext uri="{FF2B5EF4-FFF2-40B4-BE49-F238E27FC236}">
                <a16:creationId xmlns:a16="http://schemas.microsoft.com/office/drawing/2014/main" id="{01F7286F-20CD-44B3-ACAE-63FB0289F4AA}"/>
              </a:ext>
            </a:extLst>
          </p:cNvPr>
          <p:cNvGraphicFramePr/>
          <p:nvPr/>
        </p:nvGraphicFramePr>
        <p:xfrm>
          <a:off xmlns:a="http://schemas.openxmlformats.org/drawingml/2006/main" x="704850" y="2000250"/>
          <a:ext xmlns:a="http://schemas.openxmlformats.org/drawingml/2006/main" cx="10782300" cy="3829050"/>
        </p:xfrm>
        <a:graphic xmlns:a="http://schemas.openxmlformats.org/drawingml/2006/main">
          <a:graphicData uri="http://schemas.openxmlformats.org/drawingml/2006/table">
            <a:tbl>
              <a:tblPr firstRow="1" bandRow="0"/>
              <a:tblGrid>
                <a:gridCol w="4210050"/>
                <a:gridCol w="6572250"/>
              </a:tblGrid>
              <a:tr h="638175">
                <a:tc>
                  <a:txBody>
                    <a:bodyPr/>
                    <a:lstStyle/>
                    <a:p>
                      <a:r>
                        <a:rPr sz="1875" b="1">
                          <a:solidFill>
                            <a:srgbClr val="FFFFFF"/>
                          </a:solidFill>
                          <a:latin typeface="Helvetica Neue"/>
                          <a:ea typeface="Helvetica Neue"/>
                          <a:cs typeface="Helvetica Neue"/>
                        </a:rPr>
                        <a:t>Measure</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Proposed pilot threshold</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638175">
                <a:tc>
                  <a:txBody>
                    <a:bodyPr/>
                    <a:lstStyle/>
                    <a:p>
                      <a:r>
                        <a:rPr sz="1875" b="0">
                          <a:solidFill>
                            <a:srgbClr val="233C35"/>
                          </a:solidFill>
                          <a:latin typeface="Helvetica Neue"/>
                          <a:ea typeface="Helvetica Neue"/>
                          <a:cs typeface="Helvetica Neue"/>
                        </a:rPr>
                        <a:t>Useful event decision</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70% find one event they would consider</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638175">
                <a:tc>
                  <a:txBody>
                    <a:bodyPr/>
                    <a:lstStyle/>
                    <a:p>
                      <a:r>
                        <a:rPr sz="1875" b="0">
                          <a:solidFill>
                            <a:srgbClr val="233C35"/>
                          </a:solidFill>
                          <a:latin typeface="Helvetica Neue"/>
                          <a:ea typeface="Helvetica Neue"/>
                          <a:cs typeface="Helvetica Neue"/>
                        </a:rPr>
                        <a:t>Repeatable coverage</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Two verified leads in two of three evaluations</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638175">
                <a:tc>
                  <a:txBody>
                    <a:bodyPr/>
                    <a:lstStyle/>
                    <a:p>
                      <a:r>
                        <a:rPr sz="1875" b="0">
                          <a:solidFill>
                            <a:srgbClr val="233C35"/>
                          </a:solidFill>
                          <a:latin typeface="Helvetica Neue"/>
                          <a:ea typeface="Helvetica Neue"/>
                          <a:cs typeface="Helvetica Neue"/>
                        </a:rPr>
                        <a:t>Explanation comprehension</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80% distinguish fit from access and hiring</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638175">
                <a:tc>
                  <a:txBody>
                    <a:bodyPr/>
                    <a:lstStyle/>
                    <a:p>
                      <a:r>
                        <a:rPr sz="1875" b="0">
                          <a:solidFill>
                            <a:srgbClr val="233C35"/>
                          </a:solidFill>
                          <a:latin typeface="Helvetica Neue"/>
                          <a:ea typeface="Helvetica Neue"/>
                          <a:cs typeface="Helvetica Neue"/>
                        </a:rPr>
                        <a:t>Published factual quality</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100% core facts agree at review time</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638175">
                <a:tc>
                  <a:txBody>
                    <a:bodyPr/>
                    <a:lstStyle/>
                    <a:p>
                      <a:r>
                        <a:rPr sz="1875" b="0">
                          <a:solidFill>
                            <a:srgbClr val="233C35"/>
                          </a:solidFill>
                          <a:latin typeface="Helvetica Neue"/>
                          <a:ea typeface="Helvetica Neue"/>
                          <a:cs typeface="Helvetica Neue"/>
                        </a:rPr>
                        <a:t>Safety</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Zero private leaks or unauthorized publication</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bl>
          </a:graphicData>
        </a:graphic>
      </p:graphicFrame>
      <p:sp>
        <p:nvSpPr>
          <p:cNvPr id="6" name="Start with moderated tasks before adding">
            <a:extLst xmlns:a="http://schemas.openxmlformats.org/drawingml/2006/main">
              <a:ext uri="{FF2B5EF4-FFF2-40B4-BE49-F238E27FC236}">
                <a16:creationId xmlns:a16="http://schemas.microsoft.com/office/drawing/2014/main" id="{9FBE903A-28F4-42E6-9A4E-C88CBD35998C}"/>
              </a:ext>
            </a:extLst>
          </p:cNvPr>
          <p:cNvSpPr>
            <a:spLocks xmlns:a="http://schemas.openxmlformats.org/drawingml/2006/main" noGrp="1"/>
          </p:cNvSpPr>
          <p:nvPr/>
        </p:nvSpPr>
        <p:spPr>
          <a:xfrm xmlns:a="http://schemas.openxmlformats.org/drawingml/2006/main">
            <a:off x="733425" y="59817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a:solidFill>
                  <a:srgbClr val="627069"/>
                </a:solidFill>
                <a:latin typeface="Helvetica Neue"/>
                <a:ea typeface="Helvetica Neue"/>
                <a:cs typeface="Helvetica Neue"/>
              </a:defRPr>
            </a:defPPr>
          </a:lstStyle>
          <a:p xmlns:a="http://schemas.openxmlformats.org/drawingml/2006/main">
            <a:pPr>
              <a:defRPr sz="1650">
                <a:solidFill>
                  <a:srgbClr val="627069"/>
                </a:solidFill>
                <a:latin typeface="Helvetica Neue"/>
                <a:ea typeface="Helvetica Neue"/>
                <a:cs typeface="Helvetica Neue"/>
              </a:defRPr>
            </a:pPr>
            <a:r>
              <a:rPr sz="1650">
                <a:solidFill>
                  <a:srgbClr val="627069"/>
                </a:solidFill>
                <a:latin typeface="Helvetica Neue"/>
                <a:ea typeface="Helvetica Neue"/>
                <a:cs typeface="Helvetica Neue"/>
              </a:rPr>
              <a:t>Start with moderated tasks before adding consent-based telemetry.</a:t>
            </a:r>
          </a:p>
        </p:txBody>
      </p:sp>
    </p:spTree>
    <p:extLst>
      <p:ext uri="{BB962C8B-B14F-4D97-AF65-F5344CB8AC3E}">
        <p14:creationId xmlns:p14="http://schemas.microsoft.com/office/powerpoint/2010/main" val="516510346"/>
      </p:ext>
    </p:extLst>
  </p:cSld>
</p:sld>
</file>

<file path=ppt/slides/slide1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The spending policy decision">
            <a:extLst xmlns:a="http://schemas.openxmlformats.org/drawingml/2006/main">
              <a:ext uri="{FF2B5EF4-FFF2-40B4-BE49-F238E27FC236}">
                <a16:creationId xmlns:a16="http://schemas.microsoft.com/office/drawing/2014/main" id="{EB191297-F7A3-4539-A171-A603D1F533F7}"/>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The spending policy decision</a:t>
            </a:r>
          </a:p>
        </p:txBody>
      </p:sp>
      <p:sp>
        <p:nvSpPr>
          <p:cNvPr id="2" name="CURRENT BLOCKER">
            <a:extLst xmlns:a="http://schemas.openxmlformats.org/drawingml/2006/main">
              <a:ext uri="{FF2B5EF4-FFF2-40B4-BE49-F238E27FC236}">
                <a16:creationId xmlns:a16="http://schemas.microsoft.com/office/drawing/2014/main" id="{182BBB05-C925-49B4-B4AB-FE42200511DC}"/>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CURRENT BLOCKER</a:t>
            </a:r>
          </a:p>
        </p:txBody>
      </p:sp>
      <p:sp>
        <p:nvSpPr>
          <p:cNvPr id="3" name="RightRoom   October 13 2026">
            <a:extLst xmlns:a="http://schemas.openxmlformats.org/drawingml/2006/main">
              <a:ext uri="{FF2B5EF4-FFF2-40B4-BE49-F238E27FC236}">
                <a16:creationId xmlns:a16="http://schemas.microsoft.com/office/drawing/2014/main" id="{57917D81-4B7D-48CD-AE52-88FC72821F8A}"/>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12">
            <a:extLst xmlns:a="http://schemas.openxmlformats.org/drawingml/2006/main">
              <a:ext uri="{FF2B5EF4-FFF2-40B4-BE49-F238E27FC236}">
                <a16:creationId xmlns:a16="http://schemas.microsoft.com/office/drawing/2014/main" id="{981FB22F-A403-431B-A695-A21823BA54FD}"/>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12</a:t>
            </a:r>
          </a:p>
        </p:txBody>
      </p:sp>
      <p:sp>
        <p:nvSpPr>
          <p:cNvPr id="5" name="$0.15">
            <a:extLst xmlns:a="http://schemas.openxmlformats.org/drawingml/2006/main">
              <a:ext uri="{FF2B5EF4-FFF2-40B4-BE49-F238E27FC236}">
                <a16:creationId xmlns:a16="http://schemas.microsoft.com/office/drawing/2014/main" id="{3BDF2BFE-5D67-481D-AEA9-74984C3D282D}"/>
              </a:ext>
            </a:extLst>
          </p:cNvPr>
          <p:cNvSpPr>
            <a:spLocks xmlns:a="http://schemas.openxmlformats.org/drawingml/2006/main" noGrp="1"/>
          </p:cNvSpPr>
          <p:nvPr/>
        </p:nvSpPr>
        <p:spPr>
          <a:xfrm xmlns:a="http://schemas.openxmlformats.org/drawingml/2006/main">
            <a:off x="723900" y="2047875"/>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1">
                <a:solidFill>
                  <a:srgbClr val="233C35"/>
                </a:solidFill>
                <a:latin typeface="Helvetica Neue"/>
                <a:ea typeface="Helvetica Neue"/>
                <a:cs typeface="Helvetica Neue"/>
              </a:defRPr>
            </a:defPPr>
          </a:lstStyle>
          <a:p xmlns:a="http://schemas.openxmlformats.org/drawingml/2006/main">
            <a:pPr>
              <a:defRPr sz="5400" b="1">
                <a:solidFill>
                  <a:srgbClr val="233C35"/>
                </a:solidFill>
                <a:latin typeface="Helvetica Neue"/>
                <a:ea typeface="Helvetica Neue"/>
                <a:cs typeface="Helvetica Neue"/>
              </a:defRPr>
            </a:pPr>
            <a:r>
              <a:rPr sz="5400" b="1">
                <a:solidFill>
                  <a:srgbClr val="233C35"/>
                </a:solidFill>
                <a:latin typeface="Helvetica Neue"/>
                <a:ea typeface="Helvetica Neue"/>
                <a:cs typeface="Helvetica Neue"/>
              </a:rPr>
              <a:t>$0.15</a:t>
            </a:r>
          </a:p>
        </p:txBody>
      </p:sp>
      <p:sp>
        <p:nvSpPr>
          <p:cNvPr id="6" name="Approved hard ceiling">
            <a:extLst xmlns:a="http://schemas.openxmlformats.org/drawingml/2006/main">
              <a:ext uri="{FF2B5EF4-FFF2-40B4-BE49-F238E27FC236}">
                <a16:creationId xmlns:a16="http://schemas.microsoft.com/office/drawing/2014/main" id="{858809A6-6FBB-41D6-83AB-9A71D4A7F64D}"/>
              </a:ext>
            </a:extLst>
          </p:cNvPr>
          <p:cNvSpPr>
            <a:spLocks xmlns:a="http://schemas.openxmlformats.org/drawingml/2006/main" noGrp="1"/>
          </p:cNvSpPr>
          <p:nvPr/>
        </p:nvSpPr>
        <p:spPr>
          <a:xfrm xmlns:a="http://schemas.openxmlformats.org/drawingml/2006/main">
            <a:off x="752475" y="30575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233C35"/>
                </a:solidFill>
                <a:latin typeface="Helvetica Neue"/>
                <a:ea typeface="Helvetica Neue"/>
                <a:cs typeface="Helvetica Neue"/>
              </a:defRPr>
            </a:defPPr>
          </a:lstStyle>
          <a:p xmlns:a="http://schemas.openxmlformats.org/drawingml/2006/main">
            <a:pPr>
              <a:defRPr sz="2175">
                <a:solidFill>
                  <a:srgbClr val="233C35"/>
                </a:solidFill>
                <a:latin typeface="Helvetica Neue"/>
                <a:ea typeface="Helvetica Neue"/>
                <a:cs typeface="Helvetica Neue"/>
              </a:defRPr>
            </a:pPr>
            <a:r>
              <a:rPr sz="2175">
                <a:solidFill>
                  <a:srgbClr val="233C35"/>
                </a:solidFill>
                <a:latin typeface="Helvetica Neue"/>
                <a:ea typeface="Helvetica Neue"/>
                <a:cs typeface="Helvetica Neue"/>
              </a:rPr>
              <a:t>Approved hard ceiling</a:t>
            </a:r>
          </a:p>
        </p:txBody>
      </p:sp>
      <p:sp>
        <p:nvSpPr>
          <p:cNvPr id="7" name="The guarded PM runner refuses the curren">
            <a:extLst xmlns:a="http://schemas.openxmlformats.org/drawingml/2006/main">
              <a:ext uri="{FF2B5EF4-FFF2-40B4-BE49-F238E27FC236}">
                <a16:creationId xmlns:a16="http://schemas.microsoft.com/office/drawing/2014/main" id="{E8FC240C-9F0D-4586-920C-A52DDA53F830}"/>
              </a:ext>
            </a:extLst>
          </p:cNvPr>
          <p:cNvSpPr>
            <a:spLocks xmlns:a="http://schemas.openxmlformats.org/drawingml/2006/main" noGrp="1"/>
          </p:cNvSpPr>
          <p:nvPr/>
        </p:nvSpPr>
        <p:spPr>
          <a:xfrm xmlns:a="http://schemas.openxmlformats.org/drawingml/2006/main">
            <a:off x="752475" y="404812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627069"/>
                </a:solidFill>
                <a:latin typeface="Helvetica Neue"/>
                <a:ea typeface="Helvetica Neue"/>
                <a:cs typeface="Helvetica Neue"/>
              </a:defRPr>
            </a:defPPr>
          </a:lstStyle>
          <a:p xmlns:a="http://schemas.openxmlformats.org/drawingml/2006/main">
            <a:pPr>
              <a:defRPr sz="2325">
                <a:solidFill>
                  <a:srgbClr val="627069"/>
                </a:solidFill>
                <a:latin typeface="Helvetica Neue"/>
                <a:ea typeface="Helvetica Neue"/>
                <a:cs typeface="Helvetica Neue"/>
              </a:defRPr>
            </a:pPr>
            <a:r>
              <a:rPr sz="2325">
                <a:solidFill>
                  <a:srgbClr val="627069"/>
                </a:solidFill>
                <a:latin typeface="Helvetica Neue"/>
                <a:ea typeface="Helvetica Neue"/>
                <a:cs typeface="Helvetica Neue"/>
              </a:rPr>
              <a:t>The guarded PM runner refuses the current hosted-search envelope.</a:t>
            </a:r>
          </a:p>
        </p:txBody>
      </p:sp>
      <p:sp>
        <p:nvSpPr>
          <p:cNvPr id="8" name="">
            <a:extLst xmlns:a="http://schemas.openxmlformats.org/drawingml/2006/main">
              <a:ext uri="{FF2B5EF4-FFF2-40B4-BE49-F238E27FC236}">
                <a16:creationId xmlns:a16="http://schemas.microsoft.com/office/drawing/2014/main" id="{B29B1F50-6DE0-4E1F-84B0-3058EBC2E64D}"/>
              </a:ext>
            </a:extLst>
          </p:cNvPr>
          <p:cNvSpPr>
            <a:spLocks xmlns:a="http://schemas.openxmlformats.org/drawingml/2006/main" noGrp="1"/>
          </p:cNvSpPr>
          <p:nvPr/>
        </p:nvSpPr>
        <p:spPr>
          <a:xfrm xmlns:a="http://schemas.openxmlformats.org/drawingml/2006/main">
            <a:off x="6429375" y="2152650"/>
            <a:ext cx="5019675"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233C35"/>
                </a:solidFill>
                <a:latin typeface="Helvetica Neue"/>
                <a:ea typeface="Helvetica Neue"/>
                <a:cs typeface="Helvetica Neue"/>
              </a:defRPr>
            </a:defPPr>
          </a:lstStyle>
          <a:p xmlns:a="http://schemas.openxmlformats.org/drawingml/2006/main">
            <a:pPr marL="228600" indent="-127000">
              <a:spcAft>
                <a:spcPts val="2000"/>
              </a:spcAft>
              <a:buChar char="•"/>
              <a:defRPr sz="2175">
                <a:solidFill>
                  <a:srgbClr val="233C35"/>
                </a:solidFill>
                <a:latin typeface="Helvetica Neue"/>
                <a:ea typeface="Helvetica Neue"/>
                <a:cs typeface="Helvetica Neue"/>
              </a:defRPr>
            </a:pPr>
            <a:r>
              <a:rPr sz="2175">
                <a:solidFill>
                  <a:srgbClr val="233C35"/>
                </a:solidFill>
                <a:latin typeface="Helvetica Neue"/>
                <a:ea typeface="Helvetica Neue"/>
                <a:cs typeface="Helvetica Neue"/>
              </a:rPr>
              <a:t>Keep strict refusal until a bound is proven</a:t>
            </a:r>
          </a:p>
          <a:p xmlns:a="http://schemas.openxmlformats.org/drawingml/2006/main">
            <a:pPr marL="228600" indent="-127000">
              <a:spcAft>
                <a:spcPts val="2000"/>
              </a:spcAft>
              <a:buChar char="•"/>
              <a:defRPr sz="2175">
                <a:solidFill>
                  <a:srgbClr val="233C35"/>
                </a:solidFill>
                <a:latin typeface="Helvetica Neue"/>
                <a:ea typeface="Helvetica Neue"/>
                <a:cs typeface="Helvetica Neue"/>
              </a:defRPr>
            </a:pPr>
            <a:r>
              <a:rPr sz="2175">
                <a:solidFill>
                  <a:srgbClr val="233C35"/>
                </a:solidFill>
                <a:latin typeface="Helvetica Neue"/>
                <a:ea typeface="Helvetica Neue"/>
                <a:cs typeface="Helvetica Neue"/>
              </a:rPr>
              <a:t>Separately approve a monitored one-shot policy</a:t>
            </a:r>
          </a:p>
          <a:p xmlns:a="http://schemas.openxmlformats.org/drawingml/2006/main">
            <a:pPr marL="228600" indent="-127000">
              <a:spcAft>
                <a:spcPts val="2000"/>
              </a:spcAft>
              <a:buChar char="•"/>
              <a:defRPr sz="2175">
                <a:solidFill>
                  <a:srgbClr val="233C35"/>
                </a:solidFill>
                <a:latin typeface="Helvetica Neue"/>
                <a:ea typeface="Helvetica Neue"/>
                <a:cs typeface="Helvetica Neue"/>
              </a:defRPr>
            </a:pPr>
            <a:r>
              <a:rPr sz="2175">
                <a:solidFill>
                  <a:srgbClr val="233C35"/>
                </a:solidFill>
                <a:latin typeface="Helvetica Neue"/>
                <a:ea typeface="Helvetica Neue"/>
                <a:cs typeface="Helvetica Neue"/>
              </a:rPr>
              <a:t>Scope application-controlled search</a:t>
            </a:r>
          </a:p>
        </p:txBody>
      </p:sp>
      <p:sp>
        <p:nvSpPr>
          <p:cNvPr id="9" name="Historical low bills do not prove a hard">
            <a:extLst xmlns:a="http://schemas.openxmlformats.org/drawingml/2006/main">
              <a:ext uri="{FF2B5EF4-FFF2-40B4-BE49-F238E27FC236}">
                <a16:creationId xmlns:a16="http://schemas.microsoft.com/office/drawing/2014/main" id="{4F69330A-5445-412C-9FF1-88813F98068B}"/>
              </a:ext>
            </a:extLst>
          </p:cNvPr>
          <p:cNvSpPr>
            <a:spLocks xmlns:a="http://schemas.openxmlformats.org/drawingml/2006/main" noGrp="1"/>
          </p:cNvSpPr>
          <p:nvPr/>
        </p:nvSpPr>
        <p:spPr>
          <a:xfrm xmlns:a="http://schemas.openxmlformats.org/drawingml/2006/main">
            <a:off x="6448425" y="55626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627069"/>
                </a:solidFill>
                <a:latin typeface="Helvetica Neue"/>
                <a:ea typeface="Helvetica Neue"/>
                <a:cs typeface="Helvetica Neue"/>
              </a:defRPr>
            </a:defPPr>
          </a:lstStyle>
          <a:p xmlns:a="http://schemas.openxmlformats.org/drawingml/2006/main">
            <a:pPr>
              <a:defRPr sz="1875">
                <a:solidFill>
                  <a:srgbClr val="627069"/>
                </a:solidFill>
                <a:latin typeface="Helvetica Neue"/>
                <a:ea typeface="Helvetica Neue"/>
                <a:cs typeface="Helvetica Neue"/>
              </a:defRPr>
            </a:pPr>
            <a:r>
              <a:rPr sz="1875">
                <a:solidFill>
                  <a:srgbClr val="627069"/>
                </a:solidFill>
                <a:latin typeface="Helvetica Neue"/>
                <a:ea typeface="Helvetica Neue"/>
                <a:cs typeface="Helvetica Neue"/>
              </a:rPr>
              <a:t>Historical low bills do not prove a hard ceiling.</a:t>
            </a:r>
          </a:p>
        </p:txBody>
      </p:sp>
    </p:spTree>
    <p:extLst>
      <p:ext uri="{BB962C8B-B14F-4D97-AF65-F5344CB8AC3E}">
        <p14:creationId xmlns:p14="http://schemas.microsoft.com/office/powerpoint/2010/main" val="403440690"/>
      </p:ext>
    </p:extLst>
  </p:cSld>
</p:sld>
</file>

<file path=ppt/slides/slide1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Launch risks">
            <a:extLst xmlns:a="http://schemas.openxmlformats.org/drawingml/2006/main">
              <a:ext uri="{FF2B5EF4-FFF2-40B4-BE49-F238E27FC236}">
                <a16:creationId xmlns:a16="http://schemas.microsoft.com/office/drawing/2014/main" id="{F18513BB-E274-44A2-B7DC-6C6FE5292186}"/>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Launch risks</a:t>
            </a:r>
          </a:p>
        </p:txBody>
      </p:sp>
      <p:sp>
        <p:nvSpPr>
          <p:cNvPr id="2" name="RISK MANAGEMENT">
            <a:extLst xmlns:a="http://schemas.openxmlformats.org/drawingml/2006/main">
              <a:ext uri="{FF2B5EF4-FFF2-40B4-BE49-F238E27FC236}">
                <a16:creationId xmlns:a16="http://schemas.microsoft.com/office/drawing/2014/main" id="{6ED0E40B-64F8-485B-889C-EC4F0343C97B}"/>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RISK MANAGEMENT</a:t>
            </a:r>
          </a:p>
        </p:txBody>
      </p:sp>
      <p:sp>
        <p:nvSpPr>
          <p:cNvPr id="3" name="RightRoom   October 13 2026">
            <a:extLst xmlns:a="http://schemas.openxmlformats.org/drawingml/2006/main">
              <a:ext uri="{FF2B5EF4-FFF2-40B4-BE49-F238E27FC236}">
                <a16:creationId xmlns:a16="http://schemas.microsoft.com/office/drawing/2014/main" id="{F75265B3-F58E-45FB-B1F9-3DD1620D4B2A}"/>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13">
            <a:extLst xmlns:a="http://schemas.openxmlformats.org/drawingml/2006/main">
              <a:ext uri="{FF2B5EF4-FFF2-40B4-BE49-F238E27FC236}">
                <a16:creationId xmlns:a16="http://schemas.microsoft.com/office/drawing/2014/main" id="{B211C068-A4C8-4367-8117-0CF9281AFE2E}"/>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13</a:t>
            </a:r>
          </a:p>
        </p:txBody>
      </p:sp>
      <p:graphicFrame>
        <p:nvGraphicFramePr>
          <p:cNvPr id="5" name="">
            <a:extLst xmlns:a="http://schemas.openxmlformats.org/drawingml/2006/main">
              <a:ext uri="{FF2B5EF4-FFF2-40B4-BE49-F238E27FC236}">
                <a16:creationId xmlns:a16="http://schemas.microsoft.com/office/drawing/2014/main" id="{C3ADBC03-89C0-4342-AA16-9B62DB0DE83F}"/>
              </a:ext>
            </a:extLst>
          </p:cNvPr>
          <p:cNvGraphicFramePr/>
          <p:nvPr/>
        </p:nvGraphicFramePr>
        <p:xfrm>
          <a:off xmlns:a="http://schemas.openxmlformats.org/drawingml/2006/main" x="704850" y="2000250"/>
          <a:ext xmlns:a="http://schemas.openxmlformats.org/drawingml/2006/main" cx="10782300" cy="3829050"/>
        </p:xfrm>
        <a:graphic xmlns:a="http://schemas.openxmlformats.org/drawingml/2006/main">
          <a:graphicData uri="http://schemas.openxmlformats.org/drawingml/2006/table">
            <a:tbl>
              <a:tblPr firstRow="1" bandRow="0"/>
              <a:tblGrid>
                <a:gridCol w="3857625"/>
                <a:gridCol w="6924675"/>
              </a:tblGrid>
              <a:tr h="638175">
                <a:tc>
                  <a:txBody>
                    <a:bodyPr/>
                    <a:lstStyle/>
                    <a:p>
                      <a:r>
                        <a:rPr sz="1875" b="1">
                          <a:solidFill>
                            <a:srgbClr val="FFFFFF"/>
                          </a:solidFill>
                          <a:latin typeface="Helvetica Neue"/>
                          <a:ea typeface="Helvetica Neue"/>
                          <a:cs typeface="Helvetica Neue"/>
                        </a:rPr>
                        <a:t>Risk</a:t>
                      </a:r>
                    </a:p>
                  </a:txBody>
                  <a:tcPr marL="142875" marR="142875" marT="114300" marB="114300" anchor="ctr" horzOverflow="wrap">
                    <a:lnL w="9525">
                      <a:solidFill>
                        <a:srgbClr val="D5DED6"/>
                      </a:solidFill>
                      <a:prstDash val="solid"/>
                    </a:lnL>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c>
                  <a:txBody>
                    <a:bodyPr/>
                    <a:lstStyle/>
                    <a:p>
                      <a:r>
                        <a:rPr sz="1875" b="1">
                          <a:solidFill>
                            <a:srgbClr val="FFFFFF"/>
                          </a:solidFill>
                          <a:latin typeface="Helvetica Neue"/>
                          <a:ea typeface="Helvetica Neue"/>
                          <a:cs typeface="Helvetica Neue"/>
                        </a:rPr>
                        <a:t>Product response</a:t>
                      </a:r>
                    </a:p>
                  </a:txBody>
                  <a:tcPr marL="142875" marR="142875" marT="114300" marB="114300" anchor="ctr" horzOverflow="wrap">
                    <a:lnR w="9525">
                      <a:solidFill>
                        <a:srgbClr val="D5DED6"/>
                      </a:solidFill>
                      <a:prstDash val="solid"/>
                    </a:lnR>
                    <a:lnT w="9525">
                      <a:solidFill>
                        <a:srgbClr val="D5DED6"/>
                      </a:solidFill>
                      <a:prstDash val="solid"/>
                    </a:lnT>
                    <a:lnB w="9525">
                      <a:solidFill>
                        <a:srgbClr val="D5DED6"/>
                      </a:solidFill>
                      <a:prstDash val="solid"/>
                    </a:lnB>
                    <a:solidFill>
                      <a:srgbClr val="233C35"/>
                    </a:solidFill>
                  </a:tcPr>
                </a:tc>
              </a:tr>
              <a:tr h="638175">
                <a:tc>
                  <a:txBody>
                    <a:bodyPr/>
                    <a:lstStyle/>
                    <a:p>
                      <a:r>
                        <a:rPr sz="1875" b="0">
                          <a:solidFill>
                            <a:srgbClr val="233C35"/>
                          </a:solidFill>
                          <a:latin typeface="Helvetica Neue"/>
                          <a:ea typeface="Helvetica Neue"/>
                          <a:cs typeface="Helvetica Neue"/>
                        </a:rPr>
                        <a:t>Sparse or repeated listings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Measure community coverage and distinct useful results</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638175">
                <a:tc>
                  <a:txBody>
                    <a:bodyPr/>
                    <a:lstStyle/>
                    <a:p>
                      <a:r>
                        <a:rPr sz="1875" b="0">
                          <a:solidFill>
                            <a:srgbClr val="233C35"/>
                          </a:solidFill>
                          <a:latin typeface="Helvetica Neue"/>
                          <a:ea typeface="Helvetica Neue"/>
                          <a:cs typeface="Helvetica Neue"/>
                        </a:rPr>
                        <a:t>Plausible factual errors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Capture sources and require semantic human review</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638175">
                <a:tc>
                  <a:txBody>
                    <a:bodyPr/>
                    <a:lstStyle/>
                    <a:p>
                      <a:r>
                        <a:rPr sz="1875" b="0">
                          <a:solidFill>
                            <a:srgbClr val="233C35"/>
                          </a:solidFill>
                          <a:latin typeface="Helvetica Neue"/>
                          <a:ea typeface="Helvetica Neue"/>
                          <a:cs typeface="Helvetica Neue"/>
                        </a:rPr>
                        <a:t>Scores imply certainty</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Separate relevance, access and evidence confidence</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r h="638175">
                <a:tc>
                  <a:txBody>
                    <a:bodyPr/>
                    <a:lstStyle/>
                    <a:p>
                      <a:r>
                        <a:rPr sz="1875" b="0">
                          <a:solidFill>
                            <a:srgbClr val="233C35"/>
                          </a:solidFill>
                          <a:latin typeface="Helvetica Neue"/>
                          <a:ea typeface="Helvetica Neue"/>
                          <a:cs typeface="Helvetica Neue"/>
                        </a:rPr>
                        <a:t>Stale published facts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EBF0E8"/>
                    </a:solidFill>
                  </a:tcPr>
                </a:tc>
                <a:tc>
                  <a:txBody>
                    <a:bodyPr/>
                    <a:lstStyle/>
                    <a:p>
                      <a:r>
                        <a:rPr sz="1875" b="0">
                          <a:solidFill>
                            <a:srgbClr val="233C35"/>
                          </a:solidFill>
                          <a:latin typeface="Helvetica Neue"/>
                          <a:ea typeface="Helvetica Neue"/>
                          <a:cs typeface="Helvetica Neue"/>
                        </a:rPr>
                        <a:t>Design change detection and explicit re-review</a:t>
                      </a:r>
                    </a:p>
                  </a:txBody>
                  <a:tcPr marL="142875" marR="142875" marT="114300" marB="114300" anchor="ctr" horzOverflow="wrap">
                    <a:lnR w="9525">
                      <a:solidFill>
                        <a:srgbClr val="D5DED6"/>
                      </a:solidFill>
                      <a:prstDash val="solid"/>
                    </a:lnR>
                    <a:lnB w="9525">
                      <a:solidFill>
                        <a:srgbClr val="D5DED6"/>
                      </a:solidFill>
                      <a:prstDash val="solid"/>
                    </a:lnB>
                    <a:solidFill>
                      <a:srgbClr val="EBF0E8"/>
                    </a:solidFill>
                  </a:tcPr>
                </a:tc>
              </a:tr>
              <a:tr h="638175">
                <a:tc>
                  <a:txBody>
                    <a:bodyPr/>
                    <a:lstStyle/>
                    <a:p>
                      <a:r>
                        <a:rPr sz="1875" b="0">
                          <a:solidFill>
                            <a:srgbClr val="233C35"/>
                          </a:solidFill>
                          <a:latin typeface="Helvetica Neue"/>
                          <a:ea typeface="Helvetica Neue"/>
                          <a:cs typeface="Helvetica Neue"/>
                        </a:rPr>
                        <a:t>Hosted privacy or data loss</a:t>
                      </a:r>
                    </a:p>
                  </a:txBody>
                  <a:tcPr marL="142875" marR="142875" marT="114300" marB="114300" anchor="ctr" horzOverflow="wrap">
                    <a:lnL w="9525">
                      <a:solidFill>
                        <a:srgbClr val="D5DED6"/>
                      </a:solidFill>
                      <a:prstDash val="solid"/>
                    </a:lnL>
                    <a:lnR w="9525">
                      <a:solidFill>
                        <a:srgbClr val="D5DED6"/>
                      </a:solidFill>
                      <a:prstDash val="solid"/>
                    </a:lnR>
                    <a:lnB w="9525">
                      <a:solidFill>
                        <a:srgbClr val="D5DED6"/>
                      </a:solidFill>
                      <a:prstDash val="solid"/>
                    </a:lnB>
                    <a:solidFill>
                      <a:srgbClr val="FFFFFF"/>
                    </a:solidFill>
                  </a:tcPr>
                </a:tc>
                <a:tc>
                  <a:txBody>
                    <a:bodyPr/>
                    <a:lstStyle/>
                    <a:p>
                      <a:r>
                        <a:rPr sz="1875" b="0">
                          <a:solidFill>
                            <a:srgbClr val="233C35"/>
                          </a:solidFill>
                          <a:latin typeface="Helvetica Neue"/>
                          <a:ea typeface="Helvetica Neue"/>
                          <a:cs typeface="Helvetica Neue"/>
                        </a:rPr>
                        <a:t>Authorize operators and verify backup restoration</a:t>
                      </a:r>
                    </a:p>
                  </a:txBody>
                  <a:tcPr marL="142875" marR="142875" marT="114300" marB="114300" anchor="ctr" horzOverflow="wrap">
                    <a:lnR w="9525">
                      <a:solidFill>
                        <a:srgbClr val="D5DED6"/>
                      </a:solidFill>
                      <a:prstDash val="solid"/>
                    </a:lnR>
                    <a:lnB w="9525">
                      <a:solidFill>
                        <a:srgbClr val="D5DED6"/>
                      </a:solidFill>
                      <a:prstDash val="solid"/>
                    </a:lnB>
                    <a:solidFill>
                      <a:srgbClr val="FFFFFF"/>
                    </a:solidFill>
                  </a:tcPr>
                </a:tc>
              </a:tr>
            </a:tbl>
          </a:graphicData>
        </a:graphic>
      </p:graphicFrame>
    </p:spTree>
    <p:extLst>
      <p:ext uri="{BB962C8B-B14F-4D97-AF65-F5344CB8AC3E}">
        <p14:creationId xmlns:p14="http://schemas.microsoft.com/office/powerpoint/2010/main" val="272001325"/>
      </p:ext>
    </p:extLst>
  </p:cSld>
</p:sld>
</file>

<file path=ppt/slides/slide1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Next product decisions">
            <a:extLst xmlns:a="http://schemas.openxmlformats.org/drawingml/2006/main">
              <a:ext uri="{FF2B5EF4-FFF2-40B4-BE49-F238E27FC236}">
                <a16:creationId xmlns:a16="http://schemas.microsoft.com/office/drawing/2014/main" id="{7659ADA4-834F-4324-A334-4E4744EA20F3}"/>
              </a:ext>
            </a:extLst>
          </p:cNvPr>
          <p:cNvSpPr>
            <a:spLocks xmlns:a="http://schemas.openxmlformats.org/drawingml/2006/main" noGrp="1"/>
          </p:cNvSpPr>
          <p:nvPr/>
        </p:nvSpPr>
        <p:spPr>
          <a:xfrm xmlns:a="http://schemas.openxmlformats.org/drawingml/2006/main">
            <a:off x="685800" y="7620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33C35"/>
                </a:solidFill>
                <a:latin typeface="Helvetica Neue"/>
                <a:ea typeface="Helvetica Neue"/>
                <a:cs typeface="Helvetica Neue"/>
              </a:defRPr>
            </a:defPPr>
          </a:lstStyle>
          <a:p xmlns:a="http://schemas.openxmlformats.org/drawingml/2006/main">
            <a:pPr>
              <a:defRPr sz="3450" b="1">
                <a:solidFill>
                  <a:srgbClr val="233C35"/>
                </a:solidFill>
                <a:latin typeface="Helvetica Neue"/>
                <a:ea typeface="Helvetica Neue"/>
                <a:cs typeface="Helvetica Neue"/>
              </a:defRPr>
            </a:pPr>
            <a:r>
              <a:rPr sz="3450" b="1">
                <a:solidFill>
                  <a:srgbClr val="233C35"/>
                </a:solidFill>
                <a:latin typeface="Helvetica Neue"/>
                <a:ea typeface="Helvetica Neue"/>
                <a:cs typeface="Helvetica Neue"/>
              </a:rPr>
              <a:t>Next product decisions</a:t>
            </a:r>
          </a:p>
        </p:txBody>
      </p:sp>
      <p:sp>
        <p:nvSpPr>
          <p:cNvPr id="2" name="RECOMMENDED PRIORITIES">
            <a:extLst xmlns:a="http://schemas.openxmlformats.org/drawingml/2006/main">
              <a:ext uri="{FF2B5EF4-FFF2-40B4-BE49-F238E27FC236}">
                <a16:creationId xmlns:a16="http://schemas.microsoft.com/office/drawing/2014/main" id="{64CB05AB-5965-47A1-BED5-93CABAEB37EC}"/>
              </a:ext>
            </a:extLst>
          </p:cNvPr>
          <p:cNvSpPr>
            <a:spLocks xmlns:a="http://schemas.openxmlformats.org/drawingml/2006/main" noGrp="1"/>
          </p:cNvSpPr>
          <p:nvPr/>
        </p:nvSpPr>
        <p:spPr>
          <a:xfrm xmlns:a="http://schemas.openxmlformats.org/drawingml/2006/main">
            <a:off x="704850" y="3619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597252"/>
                </a:solidFill>
                <a:latin typeface="Helvetica Neue"/>
                <a:ea typeface="Helvetica Neue"/>
                <a:cs typeface="Helvetica Neue"/>
              </a:defRPr>
            </a:defPPr>
          </a:lstStyle>
          <a:p xmlns:a="http://schemas.openxmlformats.org/drawingml/2006/main">
            <a:pPr>
              <a:defRPr sz="1200" b="1">
                <a:solidFill>
                  <a:srgbClr val="597252"/>
                </a:solidFill>
                <a:latin typeface="Helvetica Neue"/>
                <a:ea typeface="Helvetica Neue"/>
                <a:cs typeface="Helvetica Neue"/>
              </a:defRPr>
            </a:pPr>
            <a:r>
              <a:rPr sz="1200" b="1">
                <a:solidFill>
                  <a:srgbClr val="597252"/>
                </a:solidFill>
                <a:latin typeface="Helvetica Neue"/>
                <a:ea typeface="Helvetica Neue"/>
                <a:cs typeface="Helvetica Neue"/>
              </a:rPr>
              <a:t>RECOMMENDED PRIORITIES</a:t>
            </a:r>
          </a:p>
        </p:txBody>
      </p:sp>
      <p:sp>
        <p:nvSpPr>
          <p:cNvPr id="3" name="RightRoom   October 13 2026">
            <a:extLst xmlns:a="http://schemas.openxmlformats.org/drawingml/2006/main">
              <a:ext uri="{FF2B5EF4-FFF2-40B4-BE49-F238E27FC236}">
                <a16:creationId xmlns:a16="http://schemas.microsoft.com/office/drawing/2014/main" id="{F723DC7D-085B-4ADD-B924-8B481A0B2A27}"/>
              </a:ext>
            </a:extLst>
          </p:cNvPr>
          <p:cNvSpPr>
            <a:spLocks xmlns:a="http://schemas.openxmlformats.org/drawingml/2006/main" noGrp="1"/>
          </p:cNvSpPr>
          <p:nvPr/>
        </p:nvSpPr>
        <p:spPr>
          <a:xfrm xmlns:a="http://schemas.openxmlformats.org/drawingml/2006/main">
            <a:off x="704850" y="63436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a:solidFill>
                  <a:srgbClr val="627069"/>
                </a:solidFill>
                <a:latin typeface="Helvetica Neue"/>
                <a:ea typeface="Helvetica Neue"/>
                <a:cs typeface="Helvetica Neue"/>
              </a:defRPr>
            </a:defPPr>
          </a:lstStyle>
          <a:p xmlns:a="http://schemas.openxmlformats.org/drawingml/2006/main">
            <a:pP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RightRoom   October 13 2026</a:t>
            </a:r>
          </a:p>
        </p:txBody>
      </p:sp>
      <p:sp>
        <p:nvSpPr>
          <p:cNvPr id="4" name="14">
            <a:extLst xmlns:a="http://schemas.openxmlformats.org/drawingml/2006/main">
              <a:ext uri="{FF2B5EF4-FFF2-40B4-BE49-F238E27FC236}">
                <a16:creationId xmlns:a16="http://schemas.microsoft.com/office/drawing/2014/main" id="{1B185FF0-40EB-499A-BEC0-C7015017F111}"/>
              </a:ext>
            </a:extLst>
          </p:cNvPr>
          <p:cNvSpPr>
            <a:spLocks xmlns:a="http://schemas.openxmlformats.org/drawingml/2006/main" noGrp="1"/>
          </p:cNvSpPr>
          <p:nvPr/>
        </p:nvSpPr>
        <p:spPr>
          <a:xfrm xmlns:a="http://schemas.openxmlformats.org/drawingml/2006/main">
            <a:off x="10763250" y="63436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125">
                <a:solidFill>
                  <a:srgbClr val="627069"/>
                </a:solidFill>
                <a:latin typeface="Helvetica Neue"/>
                <a:ea typeface="Helvetica Neue"/>
                <a:cs typeface="Helvetica Neue"/>
              </a:defRPr>
            </a:defPPr>
          </a:lstStyle>
          <a:p xmlns:a="http://schemas.openxmlformats.org/drawingml/2006/main">
            <a:pPr algn="r">
              <a:defRPr sz="1125">
                <a:solidFill>
                  <a:srgbClr val="627069"/>
                </a:solidFill>
                <a:latin typeface="Helvetica Neue"/>
                <a:ea typeface="Helvetica Neue"/>
                <a:cs typeface="Helvetica Neue"/>
              </a:defRPr>
            </a:pPr>
            <a:r>
              <a:rPr sz="1125">
                <a:solidFill>
                  <a:srgbClr val="627069"/>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5DB9FBFE-880F-4279-AAE0-650D8B06C3FF}"/>
              </a:ext>
            </a:extLst>
          </p:cNvPr>
          <p:cNvSpPr>
            <a:spLocks xmlns:a="http://schemas.openxmlformats.org/drawingml/2006/main" noGrp="1"/>
          </p:cNvSpPr>
          <p:nvPr/>
        </p:nvSpPr>
        <p:spPr>
          <a:xfrm xmlns:a="http://schemas.openxmlformats.org/drawingml/2006/main">
            <a:off x="762000" y="2019300"/>
            <a:ext cx="10620375"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a:solidFill>
                  <a:srgbClr val="233C35"/>
                </a:solidFill>
                <a:latin typeface="Helvetica Neue"/>
                <a:ea typeface="Helvetica Neue"/>
                <a:cs typeface="Helvetica Neue"/>
              </a:defRPr>
            </a:defPPr>
          </a:lstStyle>
          <a:p xmlns:a="http://schemas.openxmlformats.org/drawingml/2006/main">
            <a:pPr marL="228600" indent="-127000">
              <a:spcAft>
                <a:spcPts val="2000"/>
              </a:spcAft>
              <a:buChar char="•"/>
              <a:defRPr sz="2475">
                <a:solidFill>
                  <a:srgbClr val="233C35"/>
                </a:solidFill>
                <a:latin typeface="Helvetica Neue"/>
                <a:ea typeface="Helvetica Neue"/>
                <a:cs typeface="Helvetica Neue"/>
              </a:defRPr>
            </a:pPr>
            <a:r>
              <a:rPr sz="2475">
                <a:solidFill>
                  <a:srgbClr val="233C35"/>
                </a:solidFill>
                <a:latin typeface="Helvetica Neue"/>
                <a:ea typeface="Helvetica Neue"/>
                <a:cs typeface="Helvetica Neue"/>
              </a:rPr>
              <a:t>Approve the pilot scope and spending policy</a:t>
            </a:r>
          </a:p>
          <a:p xmlns:a="http://schemas.openxmlformats.org/drawingml/2006/main">
            <a:pPr marL="228600" indent="-127000">
              <a:spcAft>
                <a:spcPts val="2000"/>
              </a:spcAft>
              <a:buChar char="•"/>
              <a:defRPr sz="2475">
                <a:solidFill>
                  <a:srgbClr val="233C35"/>
                </a:solidFill>
                <a:latin typeface="Helvetica Neue"/>
                <a:ea typeface="Helvetica Neue"/>
                <a:cs typeface="Helvetica Neue"/>
              </a:defRPr>
            </a:pPr>
            <a:r>
              <a:rPr sz="2475">
                <a:solidFill>
                  <a:srgbClr val="233C35"/>
                </a:solidFill>
                <a:latin typeface="Helvetica Neue"/>
                <a:ea typeface="Helvetica Neue"/>
                <a:cs typeface="Helvetica Neue"/>
              </a:rPr>
              <a:t>Verify repeatable PM coverage against original listings</a:t>
            </a:r>
          </a:p>
          <a:p xmlns:a="http://schemas.openxmlformats.org/drawingml/2006/main">
            <a:pPr marL="228600" indent="-127000">
              <a:spcAft>
                <a:spcPts val="2000"/>
              </a:spcAft>
              <a:buChar char="•"/>
              <a:defRPr sz="2475">
                <a:solidFill>
                  <a:srgbClr val="233C35"/>
                </a:solidFill>
                <a:latin typeface="Helvetica Neue"/>
                <a:ea typeface="Helvetica Neue"/>
                <a:cs typeface="Helvetica Neue"/>
              </a:defRPr>
            </a:pPr>
            <a:r>
              <a:rPr sz="2475">
                <a:solidFill>
                  <a:srgbClr val="233C35"/>
                </a:solidFill>
                <a:latin typeface="Helvetica Neue"/>
                <a:ea typeface="Helvetica Neue"/>
                <a:cs typeface="Helvetica Neue"/>
              </a:rPr>
              <a:t>Test event decisions with five target users</a:t>
            </a:r>
          </a:p>
          <a:p xmlns:a="http://schemas.openxmlformats.org/drawingml/2006/main">
            <a:pPr marL="228600" indent="-127000">
              <a:spcAft>
                <a:spcPts val="2000"/>
              </a:spcAft>
              <a:buChar char="•"/>
              <a:defRPr sz="2475">
                <a:solidFill>
                  <a:srgbClr val="233C35"/>
                </a:solidFill>
                <a:latin typeface="Helvetica Neue"/>
                <a:ea typeface="Helvetica Neue"/>
                <a:cs typeface="Helvetica Neue"/>
              </a:defRPr>
            </a:pPr>
            <a:r>
              <a:rPr sz="2475">
                <a:solidFill>
                  <a:srgbClr val="233C35"/>
                </a:solidFill>
                <a:latin typeface="Helvetica Neue"/>
                <a:ea typeface="Helvetica Neue"/>
                <a:cs typeface="Helvetica Neue"/>
              </a:rPr>
              <a:t>Choose the hosted storage and review operating model</a:t>
            </a:r>
          </a:p>
        </p:txBody>
      </p:sp>
      <p:sp>
        <p:nvSpPr>
          <p:cNvPr id="6" name="The next milestone is useful, repeatable">
            <a:extLst xmlns:a="http://schemas.openxmlformats.org/drawingml/2006/main">
              <a:ext uri="{FF2B5EF4-FFF2-40B4-BE49-F238E27FC236}">
                <a16:creationId xmlns:a16="http://schemas.microsoft.com/office/drawing/2014/main" id="{D6FCB53E-E46F-4DA5-94C0-96163ABBF145}"/>
              </a:ext>
            </a:extLst>
          </p:cNvPr>
          <p:cNvSpPr>
            <a:spLocks xmlns:a="http://schemas.openxmlformats.org/drawingml/2006/main" noGrp="1"/>
          </p:cNvSpPr>
          <p:nvPr/>
        </p:nvSpPr>
        <p:spPr>
          <a:xfrm xmlns:a="http://schemas.openxmlformats.org/drawingml/2006/main">
            <a:off x="762000" y="56197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627069"/>
                </a:solidFill>
                <a:latin typeface="Helvetica Neue"/>
                <a:ea typeface="Helvetica Neue"/>
                <a:cs typeface="Helvetica Neue"/>
              </a:defRPr>
            </a:defPPr>
          </a:lstStyle>
          <a:p xmlns:a="http://schemas.openxmlformats.org/drawingml/2006/main">
            <a:pPr>
              <a:defRPr sz="2175">
                <a:solidFill>
                  <a:srgbClr val="627069"/>
                </a:solidFill>
                <a:latin typeface="Helvetica Neue"/>
                <a:ea typeface="Helvetica Neue"/>
                <a:cs typeface="Helvetica Neue"/>
              </a:defRPr>
            </a:pPr>
            <a:r>
              <a:rPr sz="2175">
                <a:solidFill>
                  <a:srgbClr val="627069"/>
                </a:solidFill>
                <a:latin typeface="Helvetica Neue"/>
                <a:ea typeface="Helvetica Neue"/>
                <a:cs typeface="Helvetica Neue"/>
              </a:rPr>
              <a:t>The next milestone is useful, repeatable discovery before more infrastructure.</a:t>
            </a:r>
          </a:p>
        </p:txBody>
      </p:sp>
    </p:spTree>
    <p:extLst>
      <p:ext uri="{BB962C8B-B14F-4D97-AF65-F5344CB8AC3E}">
        <p14:creationId xmlns:p14="http://schemas.microsoft.com/office/powerpoint/2010/main" val="1987197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2026-10-13T16:35:47.1210000Z</dcterms:created>
  <dcterms:modified xsi:type="dcterms:W3CDTF">2026-10-13T16:35:47.1210000Z</dcterms:modified>
</coreProperties>
</file>